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2.xml" ContentType="application/vnd.openxmlformats-officedocument.presentationml.tags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673" r:id="rId2"/>
    <p:sldId id="676" r:id="rId3"/>
    <p:sldId id="682" r:id="rId4"/>
    <p:sldId id="675" r:id="rId5"/>
    <p:sldId id="677" r:id="rId6"/>
    <p:sldId id="560" r:id="rId7"/>
    <p:sldId id="561" r:id="rId8"/>
    <p:sldId id="686" r:id="rId9"/>
    <p:sldId id="680" r:id="rId10"/>
    <p:sldId id="681" r:id="rId11"/>
    <p:sldId id="685" r:id="rId12"/>
    <p:sldId id="684" r:id="rId13"/>
    <p:sldId id="683" r:id="rId14"/>
    <p:sldId id="687" r:id="rId15"/>
    <p:sldId id="679" r:id="rId16"/>
  </p:sldIdLst>
  <p:sldSz cx="9144000" cy="5715000" type="screen16x10"/>
  <p:notesSz cx="6858000" cy="9144000"/>
  <p:custDataLst>
    <p:tags r:id="rId19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80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83" autoAdjust="0"/>
    <p:restoredTop sz="94863" autoAdjust="0"/>
  </p:normalViewPr>
  <p:slideViewPr>
    <p:cSldViewPr>
      <p:cViewPr varScale="1">
        <p:scale>
          <a:sx n="144" d="100"/>
          <a:sy n="144" d="100"/>
        </p:scale>
        <p:origin x="1256" y="192"/>
      </p:cViewPr>
      <p:guideLst>
        <p:guide orient="horz" pos="1800"/>
        <p:guide pos="2880"/>
      </p:guideLst>
    </p:cSldViewPr>
  </p:slideViewPr>
  <p:outlineViewPr>
    <p:cViewPr>
      <p:scale>
        <a:sx n="33" d="100"/>
        <a:sy n="33" d="100"/>
      </p:scale>
      <p:origin x="0" y="2385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4518"/>
    </p:cViewPr>
  </p:sorterViewPr>
  <p:notesViewPr>
    <p:cSldViewPr>
      <p:cViewPr varScale="1">
        <p:scale>
          <a:sx n="57" d="100"/>
          <a:sy n="57" d="100"/>
        </p:scale>
        <p:origin x="-1458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040C665-5505-0D7D-E6A2-EA0002476B7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86EC02-5544-022B-7E2B-4059E1C73FD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6F5C13A0-871A-8244-9F67-257252B151FC}" type="datetimeFigureOut">
              <a:rPr lang="en-US" altLang="en-US"/>
              <a:pPr>
                <a:defRPr/>
              </a:pPr>
              <a:t>10/15/26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1CDAC3-6AA4-6986-3806-CA0D656CC5C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611026-3519-BD29-FCB8-DBA48D65A3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78F3AFFF-D6A6-4745-A938-07FA9D17900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5430EA1-B535-FFF3-3D2C-7029592AF0A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62ABFF-59BF-2450-8A0B-1AA21F9D352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5E9E0EDB-9A6B-FF4E-8CF2-FF3BE10BA502}" type="datetimeFigureOut">
              <a:rPr lang="en-GB" altLang="en-US"/>
              <a:pPr>
                <a:defRPr/>
              </a:pPr>
              <a:t>15/10/2026</a:t>
            </a:fld>
            <a:endParaRPr lang="en-GB" alt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ED92AFCE-843C-9CC8-B09D-14568A39BA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E350961-CC9A-A81B-955B-D4B09A387D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F41197-5084-47F3-56A8-132E375C20F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770750-E8ED-A129-E5FF-ED89569818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28F8FC6A-3490-0E40-9662-A6BA8D351764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>
            <a:extLst>
              <a:ext uri="{FF2B5EF4-FFF2-40B4-BE49-F238E27FC236}">
                <a16:creationId xmlns:a16="http://schemas.microsoft.com/office/drawing/2014/main" id="{28A15B2C-4322-0343-4500-C72BA2B2B9C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0" name="Notes Placeholder 2">
            <a:extLst>
              <a:ext uri="{FF2B5EF4-FFF2-40B4-BE49-F238E27FC236}">
                <a16:creationId xmlns:a16="http://schemas.microsoft.com/office/drawing/2014/main" id="{9279F5FB-B5EF-23D4-7F9C-F70672769F7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17411" name="Slide Number Placeholder 3">
            <a:extLst>
              <a:ext uri="{FF2B5EF4-FFF2-40B4-BE49-F238E27FC236}">
                <a16:creationId xmlns:a16="http://schemas.microsoft.com/office/drawing/2014/main" id="{0DA8872A-C45A-190C-03BE-C4FCD0F324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EA1E2850-F8B5-0145-95B4-4FFF77C2C62B}" type="slidenum">
              <a:rPr lang="en-GB" altLang="en-US" smtClean="0"/>
              <a:pPr/>
              <a:t>1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Image Placeholder 1">
            <a:extLst>
              <a:ext uri="{FF2B5EF4-FFF2-40B4-BE49-F238E27FC236}">
                <a16:creationId xmlns:a16="http://schemas.microsoft.com/office/drawing/2014/main" id="{BC253353-5B72-9A6F-C04D-FF12A2B8E4D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8" name="Notes Placeholder 2">
            <a:extLst>
              <a:ext uri="{FF2B5EF4-FFF2-40B4-BE49-F238E27FC236}">
                <a16:creationId xmlns:a16="http://schemas.microsoft.com/office/drawing/2014/main" id="{77A5A93D-883A-0A8C-302A-65367B91511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19459" name="Slide Number Placeholder 3">
            <a:extLst>
              <a:ext uri="{FF2B5EF4-FFF2-40B4-BE49-F238E27FC236}">
                <a16:creationId xmlns:a16="http://schemas.microsoft.com/office/drawing/2014/main" id="{94BF80B4-C592-729E-DB9F-520D24763A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91105A99-355A-7246-B212-66220953A3D5}" type="slidenum">
              <a:rPr lang="en-GB" altLang="en-US" smtClean="0"/>
              <a:pPr/>
              <a:t>2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>
            <a:extLst>
              <a:ext uri="{FF2B5EF4-FFF2-40B4-BE49-F238E27FC236}">
                <a16:creationId xmlns:a16="http://schemas.microsoft.com/office/drawing/2014/main" id="{AA49FE5C-A09E-3117-7E6E-3C9B6156F25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6" name="Notes Placeholder 2">
            <a:extLst>
              <a:ext uri="{FF2B5EF4-FFF2-40B4-BE49-F238E27FC236}">
                <a16:creationId xmlns:a16="http://schemas.microsoft.com/office/drawing/2014/main" id="{F05FFB90-A95A-D51A-3B14-04F13B25938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21507" name="Slide Number Placeholder 3">
            <a:extLst>
              <a:ext uri="{FF2B5EF4-FFF2-40B4-BE49-F238E27FC236}">
                <a16:creationId xmlns:a16="http://schemas.microsoft.com/office/drawing/2014/main" id="{24EFABB5-A5E6-2AF5-7D05-80B373727D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09DA8D13-A7C6-0841-AF0E-AD5C977EDEC8}" type="slidenum">
              <a:rPr lang="en-GB" altLang="en-US" smtClean="0"/>
              <a:pPr/>
              <a:t>3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lide Image Placeholder 1">
            <a:extLst>
              <a:ext uri="{FF2B5EF4-FFF2-40B4-BE49-F238E27FC236}">
                <a16:creationId xmlns:a16="http://schemas.microsoft.com/office/drawing/2014/main" id="{44E32983-FCC9-B140-9B3E-95E2A9F1B12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4" name="Notes Placeholder 2">
            <a:extLst>
              <a:ext uri="{FF2B5EF4-FFF2-40B4-BE49-F238E27FC236}">
                <a16:creationId xmlns:a16="http://schemas.microsoft.com/office/drawing/2014/main" id="{E7DCE8CA-4FEC-2985-1AD4-48BA91866FA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23555" name="Slide Number Placeholder 3">
            <a:extLst>
              <a:ext uri="{FF2B5EF4-FFF2-40B4-BE49-F238E27FC236}">
                <a16:creationId xmlns:a16="http://schemas.microsoft.com/office/drawing/2014/main" id="{5C2C0BFD-9015-A6B3-3949-F9C8784DA5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76C7DE25-23FC-014C-8F7E-07CD828B4876}" type="slidenum">
              <a:rPr lang="en-GB" altLang="en-US" smtClean="0"/>
              <a:pPr/>
              <a:t>4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Slide Image Placeholder 1">
            <a:extLst>
              <a:ext uri="{FF2B5EF4-FFF2-40B4-BE49-F238E27FC236}">
                <a16:creationId xmlns:a16="http://schemas.microsoft.com/office/drawing/2014/main" id="{8A9E0099-C305-82B8-BB54-D38A47B45CA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2" name="Notes Placeholder 2">
            <a:extLst>
              <a:ext uri="{FF2B5EF4-FFF2-40B4-BE49-F238E27FC236}">
                <a16:creationId xmlns:a16="http://schemas.microsoft.com/office/drawing/2014/main" id="{7D53EEDA-E492-BBE1-629F-3352B07BF3F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25603" name="Slide Number Placeholder 3">
            <a:extLst>
              <a:ext uri="{FF2B5EF4-FFF2-40B4-BE49-F238E27FC236}">
                <a16:creationId xmlns:a16="http://schemas.microsoft.com/office/drawing/2014/main" id="{16539B0A-2939-D5E9-49DB-5CF4587AC8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7C36BC46-811B-AE4A-8ABF-A6EF6FA25D8B}" type="slidenum">
              <a:rPr lang="en-GB" altLang="en-US" smtClean="0"/>
              <a:pPr/>
              <a:t>5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Slide Image Placeholder 1">
            <a:extLst>
              <a:ext uri="{FF2B5EF4-FFF2-40B4-BE49-F238E27FC236}">
                <a16:creationId xmlns:a16="http://schemas.microsoft.com/office/drawing/2014/main" id="{9938444E-2665-7EA7-EEE7-96BD30D9752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0" name="Notes Placeholder 2">
            <a:extLst>
              <a:ext uri="{FF2B5EF4-FFF2-40B4-BE49-F238E27FC236}">
                <a16:creationId xmlns:a16="http://schemas.microsoft.com/office/drawing/2014/main" id="{BC053082-4FA8-A8BD-BE26-C0693E8573A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27651" name="Slide Number Placeholder 3">
            <a:extLst>
              <a:ext uri="{FF2B5EF4-FFF2-40B4-BE49-F238E27FC236}">
                <a16:creationId xmlns:a16="http://schemas.microsoft.com/office/drawing/2014/main" id="{21FBF323-10B6-8A91-5045-A3FEA5D333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D25CE569-0902-8D42-982F-156DDFA747F3}" type="slidenum">
              <a:rPr lang="en-GB" altLang="en-US" smtClean="0"/>
              <a:pPr/>
              <a:t>6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Image Placeholder 1">
            <a:extLst>
              <a:ext uri="{FF2B5EF4-FFF2-40B4-BE49-F238E27FC236}">
                <a16:creationId xmlns:a16="http://schemas.microsoft.com/office/drawing/2014/main" id="{7088583F-2B65-8E1B-5EA8-4F772B42692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8" name="Notes Placeholder 2">
            <a:extLst>
              <a:ext uri="{FF2B5EF4-FFF2-40B4-BE49-F238E27FC236}">
                <a16:creationId xmlns:a16="http://schemas.microsoft.com/office/drawing/2014/main" id="{DB43989C-FDE6-381F-596B-D097BD15D81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29699" name="Slide Number Placeholder 3">
            <a:extLst>
              <a:ext uri="{FF2B5EF4-FFF2-40B4-BE49-F238E27FC236}">
                <a16:creationId xmlns:a16="http://schemas.microsoft.com/office/drawing/2014/main" id="{90846138-5EB9-19B9-CAAA-4A47829164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BC0CD6B6-6994-514C-81B3-2215BFB13B9F}" type="slidenum">
              <a:rPr lang="en-GB" altLang="en-US" smtClean="0"/>
              <a:pPr/>
              <a:t>7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11C9F1A3-55D1-7331-5F0A-C36341168A8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C67DEABC-D644-BE0D-38E6-2EA91BB066F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F01A2487-52C7-091F-8C3F-4EF6D21BB9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3837D9F8-1ECD-0348-B231-32A714E5EA60}" type="slidenum">
              <a:rPr lang="en-GB" altLang="en-US" smtClean="0"/>
              <a:pPr/>
              <a:t>8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Image Placeholder 1">
            <a:extLst>
              <a:ext uri="{FF2B5EF4-FFF2-40B4-BE49-F238E27FC236}">
                <a16:creationId xmlns:a16="http://schemas.microsoft.com/office/drawing/2014/main" id="{71A5B377-35F4-D323-B16F-0205B48F883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4" name="Notes Placeholder 2">
            <a:extLst>
              <a:ext uri="{FF2B5EF4-FFF2-40B4-BE49-F238E27FC236}">
                <a16:creationId xmlns:a16="http://schemas.microsoft.com/office/drawing/2014/main" id="{4ED56836-83AC-EB0A-D01A-8EF6C2CD6BF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33795" name="Slide Number Placeholder 3">
            <a:extLst>
              <a:ext uri="{FF2B5EF4-FFF2-40B4-BE49-F238E27FC236}">
                <a16:creationId xmlns:a16="http://schemas.microsoft.com/office/drawing/2014/main" id="{D0A89DC7-4F59-6985-1E21-588F463282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DB337FBF-B480-8B4C-8D9E-3B5F2B78B1C8}" type="slidenum">
              <a:rPr lang="en-GB" altLang="en-US" smtClean="0"/>
              <a:pPr/>
              <a:t>9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5F25FC89-62BA-3EDE-D3A5-4C5F2EC435C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DB01ECA7-1155-C7D0-04B0-ED896445410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0A55448A-B253-D418-290C-0A342B55CB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0E80ADF2-1F0A-2F49-9E8D-72BB07095041}" type="slidenum">
              <a:rPr lang="en-GB" altLang="en-US" smtClean="0"/>
              <a:pPr/>
              <a:t>10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lide Image Placeholder 1">
            <a:extLst>
              <a:ext uri="{FF2B5EF4-FFF2-40B4-BE49-F238E27FC236}">
                <a16:creationId xmlns:a16="http://schemas.microsoft.com/office/drawing/2014/main" id="{1AD51479-3838-9F78-A48F-F089FB80E44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0" name="Notes Placeholder 2">
            <a:extLst>
              <a:ext uri="{FF2B5EF4-FFF2-40B4-BE49-F238E27FC236}">
                <a16:creationId xmlns:a16="http://schemas.microsoft.com/office/drawing/2014/main" id="{21A7A3B5-0BAD-791C-85A1-B2B58E34756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37891" name="Slide Number Placeholder 3">
            <a:extLst>
              <a:ext uri="{FF2B5EF4-FFF2-40B4-BE49-F238E27FC236}">
                <a16:creationId xmlns:a16="http://schemas.microsoft.com/office/drawing/2014/main" id="{42A54492-4CEA-F05A-2D4A-4482CF7C0A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AAC35E10-3871-9248-A333-8185E0B2D03C}" type="slidenum">
              <a:rPr lang="en-GB" altLang="en-US" smtClean="0"/>
              <a:pPr/>
              <a:t>11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Slide Image Placeholder 1">
            <a:extLst>
              <a:ext uri="{FF2B5EF4-FFF2-40B4-BE49-F238E27FC236}">
                <a16:creationId xmlns:a16="http://schemas.microsoft.com/office/drawing/2014/main" id="{D1CCDA0D-AD5C-B0E5-1AA9-1278C72BAC6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0" name="Notes Placeholder 2">
            <a:extLst>
              <a:ext uri="{FF2B5EF4-FFF2-40B4-BE49-F238E27FC236}">
                <a16:creationId xmlns:a16="http://schemas.microsoft.com/office/drawing/2014/main" id="{030ED693-DBA9-545D-B9BF-B277E845333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3011" name="Slide Number Placeholder 3">
            <a:extLst>
              <a:ext uri="{FF2B5EF4-FFF2-40B4-BE49-F238E27FC236}">
                <a16:creationId xmlns:a16="http://schemas.microsoft.com/office/drawing/2014/main" id="{35041818-7BC9-C0A1-DBB5-19086C8357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B38FBC56-8978-2847-8465-DD72443D66DC}" type="slidenum">
              <a:rPr lang="en-GB" altLang="en-US" smtClean="0"/>
              <a:pPr/>
              <a:t>15</a:t>
            </a:fld>
            <a:endParaRPr lang="en-GB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75355"/>
            <a:ext cx="7772400" cy="12250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FD51CF-44F5-1A84-F012-4CD2B382B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DC8415-3BB0-2A42-A2D9-6791BC0017F8}" type="datetimeFigureOut">
              <a:rPr lang="en-GB" altLang="en-US"/>
              <a:pPr>
                <a:defRPr/>
              </a:pPr>
              <a:t>15/10/2026</a:t>
            </a:fld>
            <a:endParaRPr lang="en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E2CF4C-C40E-63EE-2F6D-2195A5CE4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1B2111-F7DC-F400-B9F5-6D511EB14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82A1D2-6AB4-5145-8177-210152D29DDB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76354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D4704B-3919-6303-42AB-1CAD3ECB1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AD3A7E-D7E1-D649-93EE-D1D4239681AD}" type="datetimeFigureOut">
              <a:rPr lang="en-GB" altLang="en-US"/>
              <a:pPr>
                <a:defRPr/>
              </a:pPr>
              <a:t>15/10/2026</a:t>
            </a:fld>
            <a:endParaRPr lang="en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2FFAEE-D9AB-796C-2A95-3B057664E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B5332-DB5E-9F17-EC40-7D7C3CB1E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4F7CAF-032C-5647-ABE0-EF7FB1AE2028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606470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F439EE-1DA3-4A40-BF5A-A6333D715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0A225D-D2AC-F146-B470-2F39575D14E1}" type="datetimeFigureOut">
              <a:rPr lang="en-GB" altLang="en-US"/>
              <a:pPr>
                <a:defRPr/>
              </a:pPr>
              <a:t>15/10/2026</a:t>
            </a:fld>
            <a:endParaRPr lang="en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9B0CA2-9852-1E52-6ACC-87558A90A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A39DCD-6D73-81A8-B72D-79B3AA7E4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F4A5DC-7A86-7E4E-823F-FCA931B032D7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456030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33501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33501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FC0DC11-5CE2-2572-B645-CE3F57A3A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E7ABEA-B3C7-2743-A91C-F18E6B39CAA1}" type="datetimeFigureOut">
              <a:rPr lang="en-GB" altLang="en-US"/>
              <a:pPr>
                <a:defRPr/>
              </a:pPr>
              <a:t>15/10/2026</a:t>
            </a:fld>
            <a:endParaRPr lang="en-GB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4635457-599E-9F10-F984-B082986A6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0108199-2080-5B6A-7778-481E29C20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8EF6C1-9F58-B24A-BDB0-085A480523A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337771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79261"/>
            <a:ext cx="4040188" cy="53313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12396"/>
            <a:ext cx="4040188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279261"/>
            <a:ext cx="4041775" cy="53313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1812396"/>
            <a:ext cx="4041775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F7055568-A926-730D-B6F8-F8CAB8389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5D824D-12A0-4B46-B04B-ED97EBF1C418}" type="datetimeFigureOut">
              <a:rPr lang="en-GB" altLang="en-US"/>
              <a:pPr>
                <a:defRPr/>
              </a:pPr>
              <a:t>15/10/2026</a:t>
            </a:fld>
            <a:endParaRPr lang="en-GB" alt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307B8C8-8F6D-DD49-5C02-C6B2136BB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12CEBF1B-89B9-DF5F-7F82-01B216E3D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28B1BC-1532-C94A-B10A-E466911465F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340141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851EBE9-9636-14BE-35E4-A40A3F7BD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3F288B-9040-AF4A-AFD8-9076C739B019}" type="datetimeFigureOut">
              <a:rPr lang="en-GB" altLang="en-US"/>
              <a:pPr>
                <a:defRPr/>
              </a:pPr>
              <a:t>15/10/2026</a:t>
            </a:fld>
            <a:endParaRPr lang="en-GB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137A260-7312-D927-51A9-F182A5929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9181FBC-5BEB-40BB-9252-A9357003A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1E99F2-FC17-2D4E-84D4-7A5A48703AE7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091323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6ECDEDA9-C787-B8DA-CF08-1B3C01F23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504A7E-CE89-0F4A-8F68-351EE97D201E}" type="datetimeFigureOut">
              <a:rPr lang="en-GB" altLang="en-US"/>
              <a:pPr>
                <a:defRPr/>
              </a:pPr>
              <a:t>15/10/2026</a:t>
            </a:fld>
            <a:endParaRPr lang="en-GB" alt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6509BEB-8AF2-DAAE-F430-8DD965140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C49A87A-2E8F-2494-261E-B49EDDD6E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7A3385-FF32-0F40-9261-1A28BDA0DF39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347902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27541"/>
            <a:ext cx="3008313" cy="96837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27543"/>
            <a:ext cx="5111750" cy="487759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195918"/>
            <a:ext cx="3008313" cy="39092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1A5D5E4-CCA2-9308-CB7E-FA395A1D7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24FB50-2BF1-4847-97CD-D9B68CDE0074}" type="datetimeFigureOut">
              <a:rPr lang="en-GB" altLang="en-US"/>
              <a:pPr>
                <a:defRPr/>
              </a:pPr>
              <a:t>15/10/2026</a:t>
            </a:fld>
            <a:endParaRPr lang="en-GB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E5F46D5-5215-67F9-DF1A-0B9BD7583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89E4AAE-0162-1EDD-2C65-4CEF23EC6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9DD834-136C-DC40-A74D-1129025D391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020674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228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510646"/>
            <a:ext cx="5486400" cy="34290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472782"/>
            <a:ext cx="5486400" cy="6707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654B74D-97C7-CB93-DC34-E68C3889E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F38679-220F-3243-ADA0-96E54930B081}" type="datetimeFigureOut">
              <a:rPr lang="en-GB" altLang="en-US"/>
              <a:pPr>
                <a:defRPr/>
              </a:pPr>
              <a:t>15/10/2026</a:t>
            </a:fld>
            <a:endParaRPr lang="en-GB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6B03E53-86E5-3B20-9667-3FE0BD93C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D5296EF-7647-6CE2-7BF5-F2781991A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8C7FB7-CD1A-104A-84FE-2AA9052B284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505715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287D5A-75E1-327A-5229-31D1A9C1D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EC0132-EB82-FA4A-BB78-260311B9541F}" type="datetimeFigureOut">
              <a:rPr lang="en-GB" altLang="en-US"/>
              <a:pPr>
                <a:defRPr/>
              </a:pPr>
              <a:t>15/10/2026</a:t>
            </a:fld>
            <a:endParaRPr lang="en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4A167-2BAC-38B7-A0A7-B085A094E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C87A44-F3DB-6A61-B295-4DE3A3B8D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BF32C9-AFCB-F544-B049-009CD401C7E9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224539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28866"/>
            <a:ext cx="2057400" cy="487627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28866"/>
            <a:ext cx="6019800" cy="48762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5B02C-AA39-FBAA-C74E-DA9ABED9B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F85D94-5B96-C647-A0F7-06C74F03250D}" type="datetimeFigureOut">
              <a:rPr lang="en-GB" altLang="en-US"/>
              <a:pPr>
                <a:defRPr/>
              </a:pPr>
              <a:t>15/10/2026</a:t>
            </a:fld>
            <a:endParaRPr lang="en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1F607C-C02A-68E6-9F3B-289C7D400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2238EA-AF37-681C-B1FD-7D37922F2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5A18C2-8E26-D744-91F0-C45554FB240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0374873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F9CC12-098C-26D0-6159-F1F1BD2C4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276902-B984-3242-824B-D4845627FBCA}" type="datetimeFigureOut">
              <a:rPr lang="en-GB" altLang="en-US"/>
              <a:pPr>
                <a:defRPr/>
              </a:pPr>
              <a:t>15/10/2026</a:t>
            </a:fld>
            <a:endParaRPr lang="en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FA1692-CC03-C385-6C1B-E91663686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53F53E-4A77-BE55-8F07-05FB62F78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536005-4264-284C-B2E0-09E9BB4546F6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41795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0D36D3CB-A3AE-FF07-A6C6-5633030E4C1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28600"/>
            <a:ext cx="8229600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92846EC9-73CC-3F04-641C-561898B65DD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333500"/>
            <a:ext cx="8229600" cy="377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GB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1B0B19-1D6D-35FF-6140-16B461814F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5297488"/>
            <a:ext cx="2133600" cy="30321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04DCA5D8-C27D-A942-84C6-653A291E62BB}" type="datetimeFigureOut">
              <a:rPr lang="en-GB" altLang="en-US"/>
              <a:pPr>
                <a:defRPr/>
              </a:pPr>
              <a:t>15/10/2026</a:t>
            </a:fld>
            <a:endParaRPr lang="en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FB0168-8859-4115-35A2-CCEF936274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5297488"/>
            <a:ext cx="2895600" cy="30321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0D010-37D7-1D05-A110-C3529A2200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A7C85851-61CB-0C40-A655-C503943BAAF5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asecuritysite.com/encryption/rsa12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asecuritysite.com/encryption/rsa" TargetMode="External"/><Relationship Id="rId4" Type="http://schemas.openxmlformats.org/officeDocument/2006/relationships/hyperlink" Target="http://asecuritysite.com/encryption/rsa2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itle 1">
            <a:extLst>
              <a:ext uri="{FF2B5EF4-FFF2-40B4-BE49-F238E27FC236}">
                <a16:creationId xmlns:a16="http://schemas.microsoft.com/office/drawing/2014/main" id="{70EAA200-05B7-B6CF-F72A-6CD3B18A1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2425700"/>
            <a:ext cx="5327650" cy="952500"/>
          </a:xfrm>
        </p:spPr>
        <p:txBody>
          <a:bodyPr/>
          <a:lstStyle/>
          <a:p>
            <a:pPr algn="l"/>
            <a:r>
              <a:rPr lang="en-US" altLang="en-US" b="1">
                <a:solidFill>
                  <a:srgbClr val="C00000"/>
                </a:solidFill>
              </a:rPr>
              <a:t>Asymmetric Key</a:t>
            </a:r>
            <a:br>
              <a:rPr lang="en-US" altLang="en-US" b="1">
                <a:solidFill>
                  <a:srgbClr val="C00000"/>
                </a:solidFill>
              </a:rPr>
            </a:br>
            <a:br>
              <a:rPr lang="en-US" altLang="en-US" b="1">
                <a:solidFill>
                  <a:srgbClr val="C00000"/>
                </a:solidFill>
              </a:rPr>
            </a:br>
            <a:br>
              <a:rPr lang="en-US" altLang="en-US" b="1">
                <a:solidFill>
                  <a:srgbClr val="C00000"/>
                </a:solidFill>
              </a:rPr>
            </a:br>
            <a:r>
              <a:rPr lang="en-US" altLang="en-US" sz="2000">
                <a:solidFill>
                  <a:srgbClr val="C00000"/>
                </a:solidFill>
              </a:rPr>
              <a:t>Basics</a:t>
            </a:r>
            <a:br>
              <a:rPr lang="en-US" altLang="en-US" sz="2000">
                <a:solidFill>
                  <a:srgbClr val="C00000"/>
                </a:solidFill>
              </a:rPr>
            </a:br>
            <a:r>
              <a:rPr lang="en-US" altLang="en-US" sz="2000">
                <a:solidFill>
                  <a:srgbClr val="C00000"/>
                </a:solidFill>
              </a:rPr>
              <a:t>RSA/ECC</a:t>
            </a:r>
            <a:br>
              <a:rPr lang="en-US" altLang="en-US" sz="2000">
                <a:solidFill>
                  <a:srgbClr val="C00000"/>
                </a:solidFill>
              </a:rPr>
            </a:br>
            <a:r>
              <a:rPr lang="en-US" altLang="en-US" sz="2000">
                <a:solidFill>
                  <a:srgbClr val="C00000"/>
                </a:solidFill>
              </a:rPr>
              <a:t>Applications (Encryption and Signing)</a:t>
            </a:r>
            <a:br>
              <a:rPr lang="en-US" altLang="en-US" sz="2000" b="1">
                <a:solidFill>
                  <a:srgbClr val="C00000"/>
                </a:solidFill>
              </a:rPr>
            </a:br>
            <a:br>
              <a:rPr lang="en-US" altLang="en-US" b="1">
                <a:solidFill>
                  <a:srgbClr val="C00000"/>
                </a:solidFill>
              </a:rPr>
            </a:br>
            <a:r>
              <a:rPr lang="en-US" altLang="en-US" sz="3000" b="1"/>
              <a:t>Prof Bill Buchanan OBE</a:t>
            </a:r>
            <a:br>
              <a:rPr lang="en-US" altLang="en-US">
                <a:solidFill>
                  <a:srgbClr val="C00000"/>
                </a:solidFill>
              </a:rPr>
            </a:br>
            <a:r>
              <a:rPr lang="en-US" altLang="en-US" sz="2000">
                <a:solidFill>
                  <a:srgbClr val="C00000"/>
                </a:solidFill>
              </a:rPr>
              <a:t>https://asecuritysite.com/rsa </a:t>
            </a:r>
            <a:br>
              <a:rPr lang="en-US" altLang="en-US" sz="2000">
                <a:solidFill>
                  <a:srgbClr val="C00000"/>
                </a:solidFill>
              </a:rPr>
            </a:br>
            <a:r>
              <a:rPr lang="en-US" altLang="en-US" sz="2000">
                <a:solidFill>
                  <a:srgbClr val="C00000"/>
                </a:solidFill>
              </a:rPr>
              <a:t>https://asecuritysite.com/ecc</a:t>
            </a:r>
            <a:br>
              <a:rPr lang="en-US" altLang="en-US" sz="2000">
                <a:solidFill>
                  <a:srgbClr val="C00000"/>
                </a:solidFill>
              </a:rPr>
            </a:br>
            <a:r>
              <a:rPr lang="en-US" altLang="en-US" sz="2000">
                <a:solidFill>
                  <a:srgbClr val="C00000"/>
                </a:solidFill>
              </a:rPr>
              <a:t>https://asecuritysite.com/elgamal</a:t>
            </a:r>
            <a:br>
              <a:rPr lang="en-US" altLang="en-US" sz="2000">
                <a:solidFill>
                  <a:srgbClr val="C00000"/>
                </a:solidFill>
              </a:rPr>
            </a:br>
            <a:endParaRPr lang="en-US" altLang="en-US" sz="2000">
              <a:solidFill>
                <a:srgbClr val="C00000"/>
              </a:solidFill>
            </a:endParaRPr>
          </a:p>
        </p:txBody>
      </p:sp>
      <p:pic>
        <p:nvPicPr>
          <p:cNvPr id="16386" name="Content Placeholder 2" descr="A mug on a table&#10;&#10;Description automatically generated with low confidence">
            <a:extLst>
              <a:ext uri="{FF2B5EF4-FFF2-40B4-BE49-F238E27FC236}">
                <a16:creationId xmlns:a16="http://schemas.microsoft.com/office/drawing/2014/main" id="{FAEFAB25-A591-E637-8A70-EC9E9D96383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3438" y="539750"/>
            <a:ext cx="3859212" cy="3771900"/>
          </a:xfr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Content Placeholder 1">
            <a:extLst>
              <a:ext uri="{FF2B5EF4-FFF2-40B4-BE49-F238E27FC236}">
                <a16:creationId xmlns:a16="http://schemas.microsoft.com/office/drawing/2014/main" id="{84B8641A-96A3-E771-F17B-3F2D6FC975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18434" name="Title 1">
            <a:extLst>
              <a:ext uri="{FF2B5EF4-FFF2-40B4-BE49-F238E27FC236}">
                <a16:creationId xmlns:a16="http://schemas.microsoft.com/office/drawing/2014/main" id="{0D9C21D3-4212-3943-D6F7-4E2D54A0C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le 1">
            <a:extLst>
              <a:ext uri="{FF2B5EF4-FFF2-40B4-BE49-F238E27FC236}">
                <a16:creationId xmlns:a16="http://schemas.microsoft.com/office/drawing/2014/main" id="{02E72600-27C3-ACB5-F69F-E9B79BB69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" y="0"/>
            <a:ext cx="8229600" cy="952500"/>
          </a:xfrm>
        </p:spPr>
        <p:txBody>
          <a:bodyPr/>
          <a:lstStyle/>
          <a:p>
            <a:pPr algn="l"/>
            <a:r>
              <a:rPr lang="en-US" altLang="en-US" sz="3000" b="1">
                <a:solidFill>
                  <a:srgbClr val="C00000"/>
                </a:solidFill>
              </a:rPr>
              <a:t>Public Key Methods</a:t>
            </a:r>
          </a:p>
        </p:txBody>
      </p:sp>
      <p:sp>
        <p:nvSpPr>
          <p:cNvPr id="20482" name="Content Placeholder 1">
            <a:extLst>
              <a:ext uri="{FF2B5EF4-FFF2-40B4-BE49-F238E27FC236}">
                <a16:creationId xmlns:a16="http://schemas.microsoft.com/office/drawing/2014/main" id="{82D9ABD7-2479-FB51-5EDD-A9C422F32D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pic>
        <p:nvPicPr>
          <p:cNvPr id="20483" name="Picture 2">
            <a:extLst>
              <a:ext uri="{FF2B5EF4-FFF2-40B4-BE49-F238E27FC236}">
                <a16:creationId xmlns:a16="http://schemas.microsoft.com/office/drawing/2014/main" id="{C6E4E3C0-7D7A-87E3-A920-27E7BEFDB6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41375"/>
            <a:ext cx="9144000" cy="451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itle 1">
            <a:extLst>
              <a:ext uri="{FF2B5EF4-FFF2-40B4-BE49-F238E27FC236}">
                <a16:creationId xmlns:a16="http://schemas.microsoft.com/office/drawing/2014/main" id="{2DB90A54-F5FC-787C-9693-C3386FA9B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229600" cy="952500"/>
          </a:xfrm>
        </p:spPr>
        <p:txBody>
          <a:bodyPr/>
          <a:lstStyle/>
          <a:p>
            <a:pPr algn="l"/>
            <a:r>
              <a:rPr lang="en-US" altLang="en-US" sz="3000" b="1">
                <a:solidFill>
                  <a:srgbClr val="C00000"/>
                </a:solidFill>
              </a:rPr>
              <a:t>Public Key Methods</a:t>
            </a:r>
          </a:p>
        </p:txBody>
      </p:sp>
      <p:sp>
        <p:nvSpPr>
          <p:cNvPr id="22530" name="Content Placeholder 2">
            <a:extLst>
              <a:ext uri="{FF2B5EF4-FFF2-40B4-BE49-F238E27FC236}">
                <a16:creationId xmlns:a16="http://schemas.microsoft.com/office/drawing/2014/main" id="{9E466CED-0286-FB6C-6EBD-AB13E4C3BF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650" y="923925"/>
            <a:ext cx="8229600" cy="3771900"/>
          </a:xfrm>
        </p:spPr>
        <p:txBody>
          <a:bodyPr/>
          <a:lstStyle/>
          <a:p>
            <a:r>
              <a:rPr lang="en-US" altLang="en-US" sz="2800" b="1"/>
              <a:t>Integer Factorization</a:t>
            </a:r>
            <a:r>
              <a:rPr lang="en-US" altLang="en-US" sz="2800"/>
              <a:t>. Using prime numbers. Example: RSA. Key size: 2,048 bits (modulus). Signing, Digital Certificates.</a:t>
            </a:r>
          </a:p>
          <a:p>
            <a:r>
              <a:rPr lang="en-US" altLang="en-US" sz="2800" b="1"/>
              <a:t>Discrete Logarithms</a:t>
            </a:r>
            <a:r>
              <a:rPr lang="en-US" altLang="en-US" sz="2800"/>
              <a:t>. Y = g</a:t>
            </a:r>
            <a:r>
              <a:rPr lang="en-US" altLang="en-US" sz="2800" baseline="30000"/>
              <a:t>x</a:t>
            </a:r>
            <a:r>
              <a:rPr lang="en-US" altLang="en-US" sz="2800"/>
              <a:t> mod P. Example: ElGamal. Prime number size: 2,048 bits. Key handshake.</a:t>
            </a:r>
          </a:p>
          <a:p>
            <a:r>
              <a:rPr lang="en-US" altLang="en-US" sz="2800" b="1"/>
              <a:t>Elliptic Curve Relationships</a:t>
            </a:r>
            <a:r>
              <a:rPr lang="en-US" altLang="en-US" sz="2800"/>
              <a:t>. Example: Elliptic Curve. Private key: 256 bits. Public key: 512 bits. Bitcoin, IoT, Web, etc. </a:t>
            </a:r>
          </a:p>
        </p:txBody>
      </p:sp>
      <p:pic>
        <p:nvPicPr>
          <p:cNvPr id="5" name="Picture 4" descr="A picture containing indoor, food, table, kitchen&#10;&#10;Description automatically generated">
            <a:extLst>
              <a:ext uri="{FF2B5EF4-FFF2-40B4-BE49-F238E27FC236}">
                <a16:creationId xmlns:a16="http://schemas.microsoft.com/office/drawing/2014/main" id="{D4CB507A-9250-7609-2B8F-30D6BB8035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4075" y="26988"/>
            <a:ext cx="1944688" cy="369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>
            <a:extLst>
              <a:ext uri="{FF2B5EF4-FFF2-40B4-BE49-F238E27FC236}">
                <a16:creationId xmlns:a16="http://schemas.microsoft.com/office/drawing/2014/main" id="{185130AD-96A9-B936-A5B6-11CE427BA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2425700"/>
            <a:ext cx="5327650" cy="952500"/>
          </a:xfrm>
        </p:spPr>
        <p:txBody>
          <a:bodyPr/>
          <a:lstStyle/>
          <a:p>
            <a:pPr algn="l"/>
            <a:r>
              <a:rPr lang="en-US" altLang="en-US" b="1">
                <a:solidFill>
                  <a:srgbClr val="C00000"/>
                </a:solidFill>
              </a:rPr>
              <a:t>Public Key</a:t>
            </a:r>
            <a:br>
              <a:rPr lang="en-US" altLang="en-US" b="1">
                <a:solidFill>
                  <a:srgbClr val="C00000"/>
                </a:solidFill>
              </a:rPr>
            </a:br>
            <a:br>
              <a:rPr lang="en-US" altLang="en-US" b="1">
                <a:solidFill>
                  <a:srgbClr val="C00000"/>
                </a:solidFill>
              </a:rPr>
            </a:br>
            <a:br>
              <a:rPr lang="en-US" altLang="en-US" b="1">
                <a:solidFill>
                  <a:srgbClr val="C00000"/>
                </a:solidFill>
              </a:rPr>
            </a:br>
            <a:br>
              <a:rPr lang="en-US" altLang="en-US" sz="2000">
                <a:solidFill>
                  <a:srgbClr val="C00000"/>
                </a:solidFill>
              </a:rPr>
            </a:br>
            <a:r>
              <a:rPr lang="en-US" altLang="en-US" sz="2000">
                <a:solidFill>
                  <a:srgbClr val="C00000"/>
                </a:solidFill>
              </a:rPr>
              <a:t>RSA</a:t>
            </a:r>
            <a:br>
              <a:rPr lang="en-US" altLang="en-US" sz="2000" b="1">
                <a:solidFill>
                  <a:srgbClr val="C00000"/>
                </a:solidFill>
              </a:rPr>
            </a:br>
            <a:br>
              <a:rPr lang="en-US" altLang="en-US" b="1">
                <a:solidFill>
                  <a:srgbClr val="C00000"/>
                </a:solidFill>
              </a:rPr>
            </a:br>
            <a:r>
              <a:rPr lang="en-US" altLang="en-US" sz="3000" b="1"/>
              <a:t>Prof Bill Buchanan OBE</a:t>
            </a:r>
            <a:br>
              <a:rPr lang="en-US" altLang="en-US">
                <a:solidFill>
                  <a:srgbClr val="C00000"/>
                </a:solidFill>
              </a:rPr>
            </a:br>
            <a:r>
              <a:rPr lang="en-US" altLang="en-US" sz="2000">
                <a:solidFill>
                  <a:srgbClr val="C00000"/>
                </a:solidFill>
              </a:rPr>
              <a:t>https://asecuritysite.com/rsa </a:t>
            </a:r>
            <a:br>
              <a:rPr lang="en-US" altLang="en-US" sz="2000">
                <a:solidFill>
                  <a:srgbClr val="C00000"/>
                </a:solidFill>
              </a:rPr>
            </a:br>
            <a:r>
              <a:rPr lang="en-US" altLang="en-US" sz="2000">
                <a:solidFill>
                  <a:srgbClr val="C00000"/>
                </a:solidFill>
              </a:rPr>
              <a:t>https://asecuritysite.com/ecc</a:t>
            </a:r>
            <a:br>
              <a:rPr lang="en-US" altLang="en-US" sz="2000">
                <a:solidFill>
                  <a:srgbClr val="C00000"/>
                </a:solidFill>
              </a:rPr>
            </a:br>
            <a:r>
              <a:rPr lang="en-US" altLang="en-US" sz="2000">
                <a:solidFill>
                  <a:srgbClr val="C00000"/>
                </a:solidFill>
              </a:rPr>
              <a:t>https://asecuritysite.com/elgamal</a:t>
            </a:r>
            <a:br>
              <a:rPr lang="en-US" altLang="en-US" sz="2000">
                <a:solidFill>
                  <a:srgbClr val="C00000"/>
                </a:solidFill>
              </a:rPr>
            </a:br>
            <a:endParaRPr lang="en-US" altLang="en-US" sz="2000">
              <a:solidFill>
                <a:srgbClr val="C00000"/>
              </a:solidFill>
            </a:endParaRPr>
          </a:p>
        </p:txBody>
      </p:sp>
      <p:pic>
        <p:nvPicPr>
          <p:cNvPr id="24578" name="Content Placeholder 2" descr="A mug on a table&#10;&#10;Description automatically generated with low confidence">
            <a:extLst>
              <a:ext uri="{FF2B5EF4-FFF2-40B4-BE49-F238E27FC236}">
                <a16:creationId xmlns:a16="http://schemas.microsoft.com/office/drawing/2014/main" id="{38CA7F8C-D669-4DE3-A05E-32A8C76AE2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3438" y="539750"/>
            <a:ext cx="3859212" cy="377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Title 1">
            <a:extLst>
              <a:ext uri="{FF2B5EF4-FFF2-40B4-BE49-F238E27FC236}">
                <a16:creationId xmlns:a16="http://schemas.microsoft.com/office/drawing/2014/main" id="{FDD79B2B-A06E-B468-B1A4-7E0D259E7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sp>
        <p:nvSpPr>
          <p:cNvPr id="26626" name="Content Placeholder 2">
            <a:extLst>
              <a:ext uri="{FF2B5EF4-FFF2-40B4-BE49-F238E27FC236}">
                <a16:creationId xmlns:a16="http://schemas.microsoft.com/office/drawing/2014/main" id="{E92F57B8-B62C-982A-3DAF-28A9EA7E4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pic>
        <p:nvPicPr>
          <p:cNvPr id="26627" name="Picture 2">
            <a:extLst>
              <a:ext uri="{FF2B5EF4-FFF2-40B4-BE49-F238E27FC236}">
                <a16:creationId xmlns:a16="http://schemas.microsoft.com/office/drawing/2014/main" id="{5C966784-3F25-52EB-1C4A-39BE92AA83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" y="0"/>
            <a:ext cx="9137650" cy="574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1">
            <a:extLst>
              <a:ext uri="{FF2B5EF4-FFF2-40B4-BE49-F238E27FC236}">
                <a16:creationId xmlns:a16="http://schemas.microsoft.com/office/drawing/2014/main" id="{55F695F9-13EE-D4B8-9D24-C4C9A64B1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sp>
        <p:nvSpPr>
          <p:cNvPr id="28674" name="Content Placeholder 2">
            <a:extLst>
              <a:ext uri="{FF2B5EF4-FFF2-40B4-BE49-F238E27FC236}">
                <a16:creationId xmlns:a16="http://schemas.microsoft.com/office/drawing/2014/main" id="{0635E2EB-23F2-B3D3-2B96-37C028019C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pic>
        <p:nvPicPr>
          <p:cNvPr id="28675" name="Picture 3">
            <a:extLst>
              <a:ext uri="{FF2B5EF4-FFF2-40B4-BE49-F238E27FC236}">
                <a16:creationId xmlns:a16="http://schemas.microsoft.com/office/drawing/2014/main" id="{A7CF5C33-6825-2082-5D5D-2FA0568EEE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itle 1">
            <a:extLst>
              <a:ext uri="{FF2B5EF4-FFF2-40B4-BE49-F238E27FC236}">
                <a16:creationId xmlns:a16="http://schemas.microsoft.com/office/drawing/2014/main" id="{AEAB92C1-63F7-3EB3-BC9B-E72A38E84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229600" cy="952500"/>
          </a:xfrm>
        </p:spPr>
        <p:txBody>
          <a:bodyPr/>
          <a:lstStyle/>
          <a:p>
            <a:pPr algn="l"/>
            <a:r>
              <a:rPr lang="en-US" altLang="en-US" sz="3000" b="1">
                <a:solidFill>
                  <a:srgbClr val="C00000"/>
                </a:solidFill>
              </a:rPr>
              <a:t>Public Key Methods</a:t>
            </a:r>
          </a:p>
        </p:txBody>
      </p:sp>
      <p:pic>
        <p:nvPicPr>
          <p:cNvPr id="30722" name="Picture 5">
            <a:extLst>
              <a:ext uri="{FF2B5EF4-FFF2-40B4-BE49-F238E27FC236}">
                <a16:creationId xmlns:a16="http://schemas.microsoft.com/office/drawing/2014/main" id="{AA10C109-EAB0-74BA-9675-B63A69DA03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273175"/>
            <a:ext cx="8229600" cy="4576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Shape 259">
            <a:extLst>
              <a:ext uri="{FF2B5EF4-FFF2-40B4-BE49-F238E27FC236}">
                <a16:creationId xmlns:a16="http://schemas.microsoft.com/office/drawing/2014/main" id="{B1677FA5-D41B-9799-AC5E-78F0EB07E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5750"/>
            <a:ext cx="7886700" cy="649288"/>
          </a:xfrm>
        </p:spPr>
        <p:txBody>
          <a:bodyPr/>
          <a:lstStyle/>
          <a:p>
            <a:r>
              <a:rPr lang="en-US" altLang="en-US">
                <a:solidFill>
                  <a:srgbClr val="C00000"/>
                </a:solidFill>
              </a:rPr>
              <a:t>RSA</a:t>
            </a:r>
          </a:p>
        </p:txBody>
      </p:sp>
      <p:sp>
        <p:nvSpPr>
          <p:cNvPr id="32770" name="Shape 260">
            <a:extLst>
              <a:ext uri="{FF2B5EF4-FFF2-40B4-BE49-F238E27FC236}">
                <a16:creationId xmlns:a16="http://schemas.microsoft.com/office/drawing/2014/main" id="{0E4F3E9B-4BF3-96AB-5108-17EA7958F3C4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3943350" y="1201738"/>
            <a:ext cx="4519613" cy="3554412"/>
          </a:xfrm>
        </p:spPr>
        <p:txBody>
          <a:bodyPr/>
          <a:lstStyle/>
          <a:p>
            <a:pPr>
              <a:lnSpc>
                <a:spcPct val="72000"/>
              </a:lnSpc>
            </a:pPr>
            <a:r>
              <a:rPr lang="en-US" altLang="en-US" sz="2500"/>
              <a:t>Two primes p, q.</a:t>
            </a:r>
          </a:p>
          <a:p>
            <a:pPr>
              <a:lnSpc>
                <a:spcPct val="72000"/>
              </a:lnSpc>
            </a:pPr>
            <a:r>
              <a:rPr lang="en-US" altLang="en-US" sz="2500"/>
              <a:t>Calculate N (modulus) as p x q eg 3 and 11. n=33.</a:t>
            </a:r>
          </a:p>
          <a:p>
            <a:pPr>
              <a:lnSpc>
                <a:spcPct val="72000"/>
              </a:lnSpc>
            </a:pPr>
            <a:r>
              <a:rPr lang="en-US" altLang="en-US" sz="2500"/>
              <a:t>Calculate PHI as (p-1)x(q-1). PHI=20</a:t>
            </a:r>
          </a:p>
          <a:p>
            <a:pPr>
              <a:lnSpc>
                <a:spcPct val="72000"/>
              </a:lnSpc>
            </a:pPr>
            <a:r>
              <a:rPr lang="en-US" altLang="en-US" sz="2500"/>
              <a:t>Select e for no common factor with PHI. e=3.</a:t>
            </a:r>
          </a:p>
          <a:p>
            <a:pPr>
              <a:lnSpc>
                <a:spcPct val="72000"/>
              </a:lnSpc>
            </a:pPr>
            <a:r>
              <a:rPr lang="en-US" altLang="en-US" sz="2500">
                <a:solidFill>
                  <a:srgbClr val="C00000"/>
                </a:solidFill>
              </a:rPr>
              <a:t>Encryption key [e,n] or [3,33].</a:t>
            </a:r>
          </a:p>
          <a:p>
            <a:pPr>
              <a:lnSpc>
                <a:spcPct val="72000"/>
              </a:lnSpc>
            </a:pPr>
            <a:r>
              <a:rPr lang="en-US" altLang="en-US" sz="2500"/>
              <a:t>(d x e) mod 20 = 1</a:t>
            </a:r>
          </a:p>
          <a:p>
            <a:pPr>
              <a:lnSpc>
                <a:spcPct val="72000"/>
              </a:lnSpc>
            </a:pPr>
            <a:r>
              <a:rPr lang="en-US" altLang="en-US" sz="2500"/>
              <a:t>(d x 3) mod 20 = 1</a:t>
            </a:r>
          </a:p>
          <a:p>
            <a:pPr>
              <a:lnSpc>
                <a:spcPct val="72000"/>
              </a:lnSpc>
            </a:pPr>
            <a:r>
              <a:rPr lang="en-US" altLang="en-US" sz="2500"/>
              <a:t>d= 7</a:t>
            </a:r>
          </a:p>
          <a:p>
            <a:pPr>
              <a:lnSpc>
                <a:spcPct val="72000"/>
              </a:lnSpc>
            </a:pPr>
            <a:r>
              <a:rPr lang="en-US" altLang="en-US" sz="2500">
                <a:solidFill>
                  <a:srgbClr val="C00000"/>
                </a:solidFill>
              </a:rPr>
              <a:t>Decryption key [d,n] or [7,33] (</a:t>
            </a:r>
            <a:r>
              <a:rPr lang="en-US" altLang="en-US" sz="2500">
                <a:solidFill>
                  <a:srgbClr val="C00000"/>
                </a:solidFill>
                <a:hlinkClick r:id="rId3"/>
              </a:rPr>
              <a:t>link</a:t>
            </a:r>
            <a:r>
              <a:rPr lang="en-US" altLang="en-US" sz="2500">
                <a:solidFill>
                  <a:srgbClr val="C00000"/>
                </a:solidFill>
              </a:rPr>
              <a:t>)</a:t>
            </a:r>
          </a:p>
        </p:txBody>
      </p:sp>
      <p:pic>
        <p:nvPicPr>
          <p:cNvPr id="32771" name="image3.png">
            <a:extLst>
              <a:ext uri="{FF2B5EF4-FFF2-40B4-BE49-F238E27FC236}">
                <a16:creationId xmlns:a16="http://schemas.microsoft.com/office/drawing/2014/main" id="{F6CCD175-E5B0-3C87-6051-248E8EDBCA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3813" y="2713038"/>
            <a:ext cx="3352801" cy="233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Shape 263">
            <a:extLst>
              <a:ext uri="{FF2B5EF4-FFF2-40B4-BE49-F238E27FC236}">
                <a16:creationId xmlns:a16="http://schemas.microsoft.com/office/drawing/2014/main" id="{FE497C99-2B88-7DCE-CAE1-48328CCC2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5750"/>
            <a:ext cx="7886700" cy="649288"/>
          </a:xfrm>
        </p:spPr>
        <p:txBody>
          <a:bodyPr/>
          <a:lstStyle/>
          <a:p>
            <a:r>
              <a:rPr lang="en-US" altLang="en-US">
                <a:solidFill>
                  <a:srgbClr val="C00000"/>
                </a:solidFill>
              </a:rPr>
              <a:t>RSA</a:t>
            </a:r>
          </a:p>
        </p:txBody>
      </p:sp>
      <p:sp>
        <p:nvSpPr>
          <p:cNvPr id="264" name="Shape 264">
            <a:extLst>
              <a:ext uri="{FF2B5EF4-FFF2-40B4-BE49-F238E27FC236}">
                <a16:creationId xmlns:a16="http://schemas.microsoft.com/office/drawing/2014/main" id="{A6534EB8-4D3B-19DF-2593-A56406E407B0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3455988" y="1498600"/>
            <a:ext cx="5688012" cy="3554413"/>
          </a:xfrm>
        </p:spPr>
        <p:txBody>
          <a:bodyPr/>
          <a:lstStyle/>
          <a:p>
            <a:pPr>
              <a:buFont typeface="Arial" charset="0"/>
              <a:buChar char="•"/>
              <a:defRPr>
                <a:solidFill>
                  <a:srgbClr val="C00000"/>
                </a:solidFill>
              </a:defRPr>
            </a:pPr>
            <a:r>
              <a:rPr dirty="0">
                <a:solidFill>
                  <a:srgbClr val="C00000"/>
                </a:solidFill>
              </a:rPr>
              <a:t>Encryption key [e,n] or [3,33].</a:t>
            </a:r>
          </a:p>
          <a:p>
            <a:pPr>
              <a:buFont typeface="Arial" charset="0"/>
              <a:buChar char="•"/>
              <a:defRPr>
                <a:solidFill>
                  <a:srgbClr val="C00000"/>
                </a:solidFill>
              </a:defRPr>
            </a:pPr>
            <a:r>
              <a:rPr dirty="0">
                <a:solidFill>
                  <a:srgbClr val="C00000"/>
                </a:solidFill>
              </a:rPr>
              <a:t>Decryption key [d,n] or [7,33]</a:t>
            </a:r>
          </a:p>
          <a:p>
            <a:pPr>
              <a:buFont typeface="Arial" charset="0"/>
              <a:buChar char="•"/>
              <a:defRPr/>
            </a:pPr>
            <a:r>
              <a:rPr dirty="0"/>
              <a:t>Cipher = M</a:t>
            </a:r>
            <a:r>
              <a:rPr baseline="30000" dirty="0"/>
              <a:t>e</a:t>
            </a:r>
            <a:r>
              <a:rPr dirty="0"/>
              <a:t> mod N</a:t>
            </a:r>
          </a:p>
          <a:p>
            <a:pPr marL="0" indent="0">
              <a:buFont typeface="Arial" charset="0"/>
              <a:buNone/>
              <a:defRPr/>
            </a:pPr>
            <a:r>
              <a:rPr dirty="0"/>
              <a:t>eg M=5.</a:t>
            </a:r>
          </a:p>
          <a:p>
            <a:pPr>
              <a:buFont typeface="Arial" charset="0"/>
              <a:buChar char="•"/>
              <a:defRPr/>
            </a:pPr>
            <a:r>
              <a:rPr dirty="0"/>
              <a:t>Cipher = 5</a:t>
            </a:r>
            <a:r>
              <a:rPr baseline="30000" dirty="0"/>
              <a:t>3</a:t>
            </a:r>
            <a:r>
              <a:rPr dirty="0"/>
              <a:t> mod 33  = 26</a:t>
            </a:r>
          </a:p>
          <a:p>
            <a:pPr>
              <a:buFont typeface="Arial" charset="0"/>
              <a:buChar char="•"/>
              <a:defRPr/>
            </a:pPr>
            <a:r>
              <a:rPr dirty="0"/>
              <a:t>Decipher = C</a:t>
            </a:r>
            <a:r>
              <a:rPr baseline="30000" dirty="0"/>
              <a:t>d</a:t>
            </a:r>
            <a:r>
              <a:rPr dirty="0"/>
              <a:t> mod N</a:t>
            </a:r>
          </a:p>
          <a:p>
            <a:pPr>
              <a:buFont typeface="Arial" charset="0"/>
              <a:buChar char="•"/>
              <a:defRPr/>
            </a:pPr>
            <a:r>
              <a:rPr dirty="0"/>
              <a:t>Decipher = (26)</a:t>
            </a:r>
            <a:r>
              <a:rPr baseline="30000" dirty="0"/>
              <a:t>7</a:t>
            </a:r>
            <a:r>
              <a:rPr dirty="0"/>
              <a:t> mod 33 = 5</a:t>
            </a:r>
          </a:p>
        </p:txBody>
      </p:sp>
      <p:pic>
        <p:nvPicPr>
          <p:cNvPr id="34819" name="image3.png">
            <a:extLst>
              <a:ext uri="{FF2B5EF4-FFF2-40B4-BE49-F238E27FC236}">
                <a16:creationId xmlns:a16="http://schemas.microsoft.com/office/drawing/2014/main" id="{D6CDB960-D7B0-472E-694B-B94A310B8D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3813" y="2713038"/>
            <a:ext cx="3352801" cy="233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5" name="Rectangle 4">
            <a:hlinkClick r:id="rId4"/>
            <a:extLst>
              <a:ext uri="{FF2B5EF4-FFF2-40B4-BE49-F238E27FC236}">
                <a16:creationId xmlns:a16="http://schemas.microsoft.com/office/drawing/2014/main" id="{776368AC-7DF7-6F02-C9FA-53AA8F529983}"/>
              </a:ext>
            </a:extLst>
          </p:cNvPr>
          <p:cNvSpPr/>
          <p:nvPr/>
        </p:nvSpPr>
        <p:spPr>
          <a:xfrm>
            <a:off x="236538" y="1498600"/>
            <a:ext cx="1019175" cy="431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/>
              <a:t>Example</a:t>
            </a:r>
          </a:p>
        </p:txBody>
      </p:sp>
      <p:sp>
        <p:nvSpPr>
          <p:cNvPr id="6" name="Rectangle 5">
            <a:hlinkClick r:id="rId5"/>
            <a:extLst>
              <a:ext uri="{FF2B5EF4-FFF2-40B4-BE49-F238E27FC236}">
                <a16:creationId xmlns:a16="http://schemas.microsoft.com/office/drawing/2014/main" id="{7A29C7A6-9ECD-CCE9-304C-D9B7C8C2BE0D}"/>
              </a:ext>
            </a:extLst>
          </p:cNvPr>
          <p:cNvSpPr/>
          <p:nvPr/>
        </p:nvSpPr>
        <p:spPr>
          <a:xfrm>
            <a:off x="250825" y="935038"/>
            <a:ext cx="1019175" cy="431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 err="1"/>
              <a:t>Calc</a:t>
            </a:r>
            <a:endParaRPr lang="en-US" dirty="0"/>
          </a:p>
        </p:txBody>
      </p:sp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itle 1">
            <a:extLst>
              <a:ext uri="{FF2B5EF4-FFF2-40B4-BE49-F238E27FC236}">
                <a16:creationId xmlns:a16="http://schemas.microsoft.com/office/drawing/2014/main" id="{621166DF-BE6C-3AAB-BFD0-191308F49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2425700"/>
            <a:ext cx="5327650" cy="952500"/>
          </a:xfrm>
        </p:spPr>
        <p:txBody>
          <a:bodyPr/>
          <a:lstStyle/>
          <a:p>
            <a:pPr algn="l"/>
            <a:r>
              <a:rPr lang="en-US" altLang="en-US" b="1">
                <a:solidFill>
                  <a:srgbClr val="C00000"/>
                </a:solidFill>
              </a:rPr>
              <a:t>Public Key</a:t>
            </a:r>
            <a:br>
              <a:rPr lang="en-US" altLang="en-US" b="1">
                <a:solidFill>
                  <a:srgbClr val="C00000"/>
                </a:solidFill>
              </a:rPr>
            </a:br>
            <a:br>
              <a:rPr lang="en-US" altLang="en-US" b="1">
                <a:solidFill>
                  <a:srgbClr val="C00000"/>
                </a:solidFill>
              </a:rPr>
            </a:br>
            <a:br>
              <a:rPr lang="en-US" altLang="en-US" b="1">
                <a:solidFill>
                  <a:srgbClr val="C00000"/>
                </a:solidFill>
              </a:rPr>
            </a:br>
            <a:r>
              <a:rPr lang="en-US" altLang="en-US" sz="2000">
                <a:solidFill>
                  <a:srgbClr val="C00000"/>
                </a:solidFill>
              </a:rPr>
              <a:t>Basics</a:t>
            </a:r>
            <a:br>
              <a:rPr lang="en-US" altLang="en-US" sz="2000">
                <a:solidFill>
                  <a:srgbClr val="C00000"/>
                </a:solidFill>
              </a:rPr>
            </a:br>
            <a:r>
              <a:rPr lang="en-US" altLang="en-US" sz="2000">
                <a:solidFill>
                  <a:srgbClr val="C00000"/>
                </a:solidFill>
              </a:rPr>
              <a:t>RSA</a:t>
            </a:r>
            <a:br>
              <a:rPr lang="en-US" altLang="en-US" sz="2000">
                <a:solidFill>
                  <a:srgbClr val="C00000"/>
                </a:solidFill>
              </a:rPr>
            </a:br>
            <a:r>
              <a:rPr lang="en-US" altLang="en-US" sz="2000" b="1">
                <a:solidFill>
                  <a:srgbClr val="C00000"/>
                </a:solidFill>
              </a:rPr>
              <a:t>Applications (Encryption and Signing)</a:t>
            </a:r>
            <a:br>
              <a:rPr lang="en-US" altLang="en-US" sz="2000" b="1">
                <a:solidFill>
                  <a:srgbClr val="C00000"/>
                </a:solidFill>
              </a:rPr>
            </a:br>
            <a:br>
              <a:rPr lang="en-US" altLang="en-US" b="1">
                <a:solidFill>
                  <a:srgbClr val="C00000"/>
                </a:solidFill>
              </a:rPr>
            </a:br>
            <a:r>
              <a:rPr lang="en-US" altLang="en-US" sz="3000" b="1"/>
              <a:t>Prof Bill Buchanan OBE</a:t>
            </a:r>
            <a:br>
              <a:rPr lang="en-US" altLang="en-US">
                <a:solidFill>
                  <a:srgbClr val="C00000"/>
                </a:solidFill>
              </a:rPr>
            </a:br>
            <a:r>
              <a:rPr lang="en-US" altLang="en-US" sz="2000">
                <a:solidFill>
                  <a:srgbClr val="C00000"/>
                </a:solidFill>
              </a:rPr>
              <a:t>https://asecuritysite.com/rsa </a:t>
            </a:r>
            <a:br>
              <a:rPr lang="en-US" altLang="en-US" sz="2000">
                <a:solidFill>
                  <a:srgbClr val="C00000"/>
                </a:solidFill>
              </a:rPr>
            </a:br>
            <a:r>
              <a:rPr lang="en-US" altLang="en-US" sz="2000">
                <a:solidFill>
                  <a:srgbClr val="C00000"/>
                </a:solidFill>
              </a:rPr>
              <a:t>https://asecuritysite.com/ecc</a:t>
            </a:r>
            <a:br>
              <a:rPr lang="en-US" altLang="en-US" sz="2000">
                <a:solidFill>
                  <a:srgbClr val="C00000"/>
                </a:solidFill>
              </a:rPr>
            </a:br>
            <a:r>
              <a:rPr lang="en-US" altLang="en-US" sz="2000">
                <a:solidFill>
                  <a:srgbClr val="C00000"/>
                </a:solidFill>
              </a:rPr>
              <a:t>https://asecuritysite.com/elgamal</a:t>
            </a:r>
            <a:br>
              <a:rPr lang="en-US" altLang="en-US" sz="2000">
                <a:solidFill>
                  <a:srgbClr val="C00000"/>
                </a:solidFill>
              </a:rPr>
            </a:br>
            <a:endParaRPr lang="en-US" altLang="en-US" sz="2000">
              <a:solidFill>
                <a:srgbClr val="C00000"/>
              </a:solidFill>
            </a:endParaRPr>
          </a:p>
        </p:txBody>
      </p:sp>
      <p:pic>
        <p:nvPicPr>
          <p:cNvPr id="36866" name="Content Placeholder 2" descr="A mug on a table&#10;&#10;Description automatically generated with low confidence">
            <a:extLst>
              <a:ext uri="{FF2B5EF4-FFF2-40B4-BE49-F238E27FC236}">
                <a16:creationId xmlns:a16="http://schemas.microsoft.com/office/drawing/2014/main" id="{91044ED0-1E14-5702-EA23-A9372AD6668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3438" y="539750"/>
            <a:ext cx="3859212" cy="3771900"/>
          </a:xfr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Title 1">
            <a:extLst>
              <a:ext uri="{FF2B5EF4-FFF2-40B4-BE49-F238E27FC236}">
                <a16:creationId xmlns:a16="http://schemas.microsoft.com/office/drawing/2014/main" id="{A90D5D73-F889-9275-6034-B9A6C566B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38914" name="Content Placeholder 2">
            <a:extLst>
              <a:ext uri="{FF2B5EF4-FFF2-40B4-BE49-F238E27FC236}">
                <a16:creationId xmlns:a16="http://schemas.microsoft.com/office/drawing/2014/main" id="{56B3E299-93A7-F3A8-5FF9-6E1A0657F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pic>
        <p:nvPicPr>
          <p:cNvPr id="38915" name="Picture 2">
            <a:extLst>
              <a:ext uri="{FF2B5EF4-FFF2-40B4-BE49-F238E27FC236}">
                <a16:creationId xmlns:a16="http://schemas.microsoft.com/office/drawing/2014/main" id="{4AE5CAA1-99F0-1E84-84E4-71F6B968E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46138"/>
            <a:ext cx="9144000" cy="4021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6" name="Title 1">
            <a:extLst>
              <a:ext uri="{FF2B5EF4-FFF2-40B4-BE49-F238E27FC236}">
                <a16:creationId xmlns:a16="http://schemas.microsoft.com/office/drawing/2014/main" id="{2AB0D54D-7990-A4D5-67D1-FEA9DF663325}"/>
              </a:ext>
            </a:extLst>
          </p:cNvPr>
          <p:cNvSpPr txBox="1">
            <a:spLocks/>
          </p:cNvSpPr>
          <p:nvPr/>
        </p:nvSpPr>
        <p:spPr bwMode="auto">
          <a:xfrm>
            <a:off x="6350" y="0"/>
            <a:ext cx="8229600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000" b="1">
                <a:solidFill>
                  <a:srgbClr val="C00000"/>
                </a:solidFill>
              </a:rPr>
              <a:t>Public Key Encryption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Title 1">
            <a:extLst>
              <a:ext uri="{FF2B5EF4-FFF2-40B4-BE49-F238E27FC236}">
                <a16:creationId xmlns:a16="http://schemas.microsoft.com/office/drawing/2014/main" id="{86739602-3D29-BD2D-FF4C-C45446531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pic>
        <p:nvPicPr>
          <p:cNvPr id="39938" name="Content Placeholder 6" descr="Diagram&#10;&#10;Description automatically generated">
            <a:extLst>
              <a:ext uri="{FF2B5EF4-FFF2-40B4-BE49-F238E27FC236}">
                <a16:creationId xmlns:a16="http://schemas.microsoft.com/office/drawing/2014/main" id="{30610F6B-FF0E-CD09-97E6-96026940BF3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516063"/>
            <a:ext cx="8229600" cy="3406775"/>
          </a:xfrm>
        </p:spPr>
      </p:pic>
      <p:sp>
        <p:nvSpPr>
          <p:cNvPr id="39939" name="Title 1">
            <a:extLst>
              <a:ext uri="{FF2B5EF4-FFF2-40B4-BE49-F238E27FC236}">
                <a16:creationId xmlns:a16="http://schemas.microsoft.com/office/drawing/2014/main" id="{A21E2363-8589-988F-D843-0A891F58F647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8229600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000" b="1">
                <a:solidFill>
                  <a:srgbClr val="C00000"/>
                </a:solidFill>
              </a:rPr>
              <a:t>Public Key Digital Signing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Title 1">
            <a:extLst>
              <a:ext uri="{FF2B5EF4-FFF2-40B4-BE49-F238E27FC236}">
                <a16:creationId xmlns:a16="http://schemas.microsoft.com/office/drawing/2014/main" id="{36A2F98C-11EA-3CCA-6EDD-37FB5A3CA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40962" name="Title 1">
            <a:extLst>
              <a:ext uri="{FF2B5EF4-FFF2-40B4-BE49-F238E27FC236}">
                <a16:creationId xmlns:a16="http://schemas.microsoft.com/office/drawing/2014/main" id="{E23AD56C-90BD-5FA4-776B-EB36A6396677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8229600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000" b="1">
                <a:solidFill>
                  <a:srgbClr val="C00000"/>
                </a:solidFill>
              </a:rPr>
              <a:t>Public Key Digital Signing</a:t>
            </a:r>
          </a:p>
        </p:txBody>
      </p:sp>
      <p:pic>
        <p:nvPicPr>
          <p:cNvPr id="40963" name="Picture 5">
            <a:extLst>
              <a:ext uri="{FF2B5EF4-FFF2-40B4-BE49-F238E27FC236}">
                <a16:creationId xmlns:a16="http://schemas.microsoft.com/office/drawing/2014/main" id="{C48BBF9A-44C0-A807-6AFF-8592DF95C3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288" y="696913"/>
            <a:ext cx="6707187" cy="546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Title 1">
            <a:extLst>
              <a:ext uri="{FF2B5EF4-FFF2-40B4-BE49-F238E27FC236}">
                <a16:creationId xmlns:a16="http://schemas.microsoft.com/office/drawing/2014/main" id="{1491ABF2-C136-CE5F-4ADF-996FB3DB7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2425700"/>
            <a:ext cx="5327650" cy="952500"/>
          </a:xfrm>
        </p:spPr>
        <p:txBody>
          <a:bodyPr/>
          <a:lstStyle/>
          <a:p>
            <a:pPr algn="l"/>
            <a:r>
              <a:rPr lang="en-US" altLang="en-US" b="1">
                <a:solidFill>
                  <a:srgbClr val="C00000"/>
                </a:solidFill>
              </a:rPr>
              <a:t>Public Key</a:t>
            </a:r>
            <a:br>
              <a:rPr lang="en-US" altLang="en-US" b="1">
                <a:solidFill>
                  <a:srgbClr val="C00000"/>
                </a:solidFill>
              </a:rPr>
            </a:br>
            <a:br>
              <a:rPr lang="en-US" altLang="en-US" b="1">
                <a:solidFill>
                  <a:srgbClr val="C00000"/>
                </a:solidFill>
              </a:rPr>
            </a:br>
            <a:br>
              <a:rPr lang="en-US" altLang="en-US" b="1">
                <a:solidFill>
                  <a:srgbClr val="C00000"/>
                </a:solidFill>
              </a:rPr>
            </a:br>
            <a:r>
              <a:rPr lang="en-US" altLang="en-US" sz="2000">
                <a:solidFill>
                  <a:srgbClr val="C00000"/>
                </a:solidFill>
              </a:rPr>
              <a:t>Basics</a:t>
            </a:r>
            <a:br>
              <a:rPr lang="en-US" altLang="en-US" sz="2000">
                <a:solidFill>
                  <a:srgbClr val="C00000"/>
                </a:solidFill>
              </a:rPr>
            </a:br>
            <a:r>
              <a:rPr lang="en-US" altLang="en-US" sz="2000">
                <a:solidFill>
                  <a:srgbClr val="C00000"/>
                </a:solidFill>
              </a:rPr>
              <a:t>RSA</a:t>
            </a:r>
            <a:br>
              <a:rPr lang="en-US" altLang="en-US" sz="2000">
                <a:solidFill>
                  <a:srgbClr val="C00000"/>
                </a:solidFill>
              </a:rPr>
            </a:br>
            <a:r>
              <a:rPr lang="en-US" altLang="en-US" sz="2000">
                <a:solidFill>
                  <a:srgbClr val="C00000"/>
                </a:solidFill>
              </a:rPr>
              <a:t>Applications (Encryption and Signing)</a:t>
            </a:r>
            <a:br>
              <a:rPr lang="en-US" altLang="en-US" sz="2000">
                <a:solidFill>
                  <a:srgbClr val="C00000"/>
                </a:solidFill>
              </a:rPr>
            </a:br>
            <a:br>
              <a:rPr lang="en-US" altLang="en-US">
                <a:solidFill>
                  <a:srgbClr val="C00000"/>
                </a:solidFill>
              </a:rPr>
            </a:br>
            <a:r>
              <a:rPr lang="en-US" altLang="en-US" sz="3000" b="1"/>
              <a:t>Prof Bill Buchanan OBE</a:t>
            </a:r>
            <a:br>
              <a:rPr lang="en-US" altLang="en-US">
                <a:solidFill>
                  <a:srgbClr val="C00000"/>
                </a:solidFill>
              </a:rPr>
            </a:br>
            <a:r>
              <a:rPr lang="en-US" altLang="en-US" sz="2000">
                <a:solidFill>
                  <a:srgbClr val="C00000"/>
                </a:solidFill>
              </a:rPr>
              <a:t>https://asecuritysite.com/rsa </a:t>
            </a:r>
            <a:br>
              <a:rPr lang="en-US" altLang="en-US" sz="2000">
                <a:solidFill>
                  <a:srgbClr val="C00000"/>
                </a:solidFill>
              </a:rPr>
            </a:br>
            <a:r>
              <a:rPr lang="en-US" altLang="en-US" sz="2000">
                <a:solidFill>
                  <a:srgbClr val="C00000"/>
                </a:solidFill>
              </a:rPr>
              <a:t>https://asecuritysite.com/ecc</a:t>
            </a:r>
            <a:br>
              <a:rPr lang="en-US" altLang="en-US" sz="2000">
                <a:solidFill>
                  <a:srgbClr val="C00000"/>
                </a:solidFill>
              </a:rPr>
            </a:br>
            <a:r>
              <a:rPr lang="en-US" altLang="en-US" sz="2000">
                <a:solidFill>
                  <a:srgbClr val="C00000"/>
                </a:solidFill>
              </a:rPr>
              <a:t>https://asecuritysite.com/elgamal</a:t>
            </a:r>
            <a:br>
              <a:rPr lang="en-US" altLang="en-US" sz="2000">
                <a:solidFill>
                  <a:srgbClr val="C00000"/>
                </a:solidFill>
              </a:rPr>
            </a:br>
            <a:endParaRPr lang="en-US" altLang="en-US" sz="2000">
              <a:solidFill>
                <a:srgbClr val="C00000"/>
              </a:solidFill>
            </a:endParaRPr>
          </a:p>
        </p:txBody>
      </p:sp>
      <p:pic>
        <p:nvPicPr>
          <p:cNvPr id="41986" name="Content Placeholder 2" descr="A mug on a table&#10;&#10;Description automatically generated with low confidence">
            <a:extLst>
              <a:ext uri="{FF2B5EF4-FFF2-40B4-BE49-F238E27FC236}">
                <a16:creationId xmlns:a16="http://schemas.microsoft.com/office/drawing/2014/main" id="{1A45874C-859B-4CC2-BAA0-62D72ED5C3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3438" y="539750"/>
            <a:ext cx="3859212" cy="377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OWBARVISIBLE" val="True"/>
  <p:tag name="CSVFORMAT" val="0"/>
  <p:tag name="COUNTDOWNSTYLE" val="-1"/>
  <p:tag name="COUNTDOWNSECONDS" val="10"/>
  <p:tag name="BACKUPSESSIONS" val="True"/>
  <p:tag name="REVIEWONLY" val="False"/>
  <p:tag name="RACEENDPOINTS" val="100"/>
  <p:tag name="PARTICIPANTSINLEADERBOARD" val="5"/>
  <p:tag name="BUBBLESIZEVISIBLE" val="True"/>
  <p:tag name="CUSTOMGRIDBACKCOLOR" val="-722948"/>
  <p:tag name="CUSTOMCELLBACKCOLOR3" val="-268652"/>
  <p:tag name="DISPLAYDEVICENUMBER" val="True"/>
  <p:tag name="AUTOSIZEGRID" val="True"/>
  <p:tag name="POLLINGCYCLE" val="2"/>
  <p:tag name="INCLUDENONRESPONDERS" val="False"/>
  <p:tag name="CORRECTPOINTVALUE" val="1"/>
  <p:tag name="ZEROBASED" val="False"/>
  <p:tag name="FIBDISPLAYRESULTS" val="True"/>
  <p:tag name="PRRESPONSE1" val="10"/>
  <p:tag name="PRRESPONSE5" val="6"/>
  <p:tag name="PRRESPONSE9" val="2"/>
  <p:tag name="USESECONDARYMONITOR" val="True"/>
  <p:tag name="ANSWERNOWTEXT" val="Answer Now"/>
  <p:tag name="INPUTSOURCE" val="1"/>
  <p:tag name="CHARTVALUEFORMAT" val="0%"/>
  <p:tag name="STDCHART" val="1"/>
  <p:tag name="TEAMSINLEADERBOARD" val="5"/>
  <p:tag name="BUBBLEGROUPING" val="3"/>
  <p:tag name="CUSTOMCELLBACKCOLOR2" val="-13395457"/>
  <p:tag name="DISPLAYDEVICEID" val="True"/>
  <p:tag name="GRIDPOSITION" val="1"/>
  <p:tag name="RESETCHARTS" val="True"/>
  <p:tag name="INCORRECTPOINTVALUE" val="0"/>
  <p:tag name="CHARTSCALE" val="True"/>
  <p:tag name="FIBDISPLAYKEYWORDS" val="True"/>
  <p:tag name="PRRESPONSE6" val="5"/>
  <p:tag name="SHOWFLASHWARNING" val="True"/>
  <p:tag name="RESPCOUNTERSTYLE" val="-1"/>
  <p:tag name="ALLOWDUPLICATES" val="False"/>
  <p:tag name="AUTOUPDATEALIASES" val="True"/>
  <p:tag name="MAXRESPONDERS" val="5"/>
  <p:tag name="CUSTOMCELLFORECOLOR" val="-16777216"/>
  <p:tag name="DISPLAYNAME" val="True"/>
  <p:tag name="GRIDFONTSIZE" val="12"/>
  <p:tag name="INCLUDEPPT" val="True"/>
  <p:tag name="AUTOADJUSTPARTRANGE" val="True"/>
  <p:tag name="PRRESPONSE2" val="9"/>
  <p:tag name="PRRESPONSE8" val="3"/>
  <p:tag name="POWERPOINTVERSION" val="14.0"/>
  <p:tag name="RESPCOUNTERFORMAT" val="0"/>
  <p:tag name="AUTOADVANCE" val="False"/>
  <p:tag name="SKIPREMAININGRACESLIDES" val="True"/>
  <p:tag name="CUSTOMCELLBACKCOLOR1" val="-657956"/>
  <p:tag name="GRIDROTATIONINTERVAL" val="2"/>
  <p:tag name="MULTIRESPDIVISOR" val="1"/>
  <p:tag name="ADVANCEDSETTINGSVIEW" val="False"/>
  <p:tag name="PRRESPONSE4" val="7"/>
  <p:tag name="TPVERSION" val="2008"/>
  <p:tag name="RESPTABLESTYLE" val="-1"/>
  <p:tag name="RACERSMAXDISPLAYED" val="5"/>
  <p:tag name="DEFAULTNUMTEAMS" val="5"/>
  <p:tag name="GRIDSIZE" val="{Width=800, Height=600}"/>
  <p:tag name="REALTIMEBACKUP" val="False"/>
  <p:tag name="PRRESPONSE3" val="8"/>
  <p:tag name="SAVECSVWITHSESSION" val="True"/>
  <p:tag name="BACKUPMAINTENANCE" val="7"/>
  <p:tag name="BUBBLEVALUEFORMAT" val="0.0"/>
  <p:tag name="CHARTCOLORS" val="0"/>
  <p:tag name="FIBNUMRESULTS" val="5"/>
  <p:tag name="ALWAYSOPENPOLL" val="False"/>
  <p:tag name="ROTATIONINTERVAL" val="2"/>
  <p:tag name="USESCHEMECOLORS" val="True"/>
  <p:tag name="REALTIMEBACKUPPATH" val="(None)"/>
  <p:tag name="BULLETTYPE" val="3"/>
  <p:tag name="BUBBLENAMEVISIBLE" val="True"/>
  <p:tag name="ALLOWUSERFEEDBACK" val="True"/>
  <p:tag name="ANSWERNOWSTYLE" val="-1"/>
  <p:tag name="GRIDOPACITY" val="90"/>
  <p:tag name="PRRESPONSE10" val="1"/>
  <p:tag name="CHARTLABELS" val="1"/>
  <p:tag name="RACEANIMATIONSPEED" val="3"/>
  <p:tag name="NUMRESPONSES" val="1"/>
  <p:tag name="CUSTOMCELLBACKCOLOR4" val="-8355712"/>
  <p:tag name="PRRESPONSE7" val="4"/>
  <p:tag name="FIBINCLUDEOTHER" val="True"/>
  <p:tag name="DELIMITERS" val="3.1"/>
  <p:tag name="EXPANDSHOWBAR" val="True"/>
  <p:tag name="TASKPANEKEY" val="dafbef08-a348-49d7-bea5-b86f92686b8d"/>
  <p:tag name="TPFULLVERSION" val="4.3.2.117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8801</TotalTime>
  <Words>438</Words>
  <Application>Microsoft Macintosh PowerPoint</Application>
  <PresentationFormat>On-screen Show (16:10)</PresentationFormat>
  <Paragraphs>45</Paragraphs>
  <Slides>15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Calibri</vt:lpstr>
      <vt:lpstr>Arial</vt:lpstr>
      <vt:lpstr>Office Theme</vt:lpstr>
      <vt:lpstr>Asymmetric Key   Basics RSA/ECC Applications (Encryption and Signing)  Prof Bill Buchanan OBE https://asecuritysite.com/rsa  https://asecuritysite.com/ecc https://asecuritysite.com/elgamal </vt:lpstr>
      <vt:lpstr>PowerPoint Presentation</vt:lpstr>
      <vt:lpstr>Public Key Methods</vt:lpstr>
      <vt:lpstr>Public Key Methods</vt:lpstr>
      <vt:lpstr>Public Key    RSA  Prof Bill Buchanan OBE https://asecuritysite.com/rsa  https://asecuritysite.com/ecc https://asecuritysite.com/elgamal </vt:lpstr>
      <vt:lpstr>PowerPoint Presentation</vt:lpstr>
      <vt:lpstr>PowerPoint Presentation</vt:lpstr>
      <vt:lpstr>Public Key Methods</vt:lpstr>
      <vt:lpstr>RSA</vt:lpstr>
      <vt:lpstr>RSA</vt:lpstr>
      <vt:lpstr>Public Key   Basics RSA Applications (Encryption and Signing)  Prof Bill Buchanan OBE https://asecuritysite.com/rsa  https://asecuritysite.com/ecc https://asecuritysite.com/elgamal </vt:lpstr>
      <vt:lpstr>PowerPoint Presentation</vt:lpstr>
      <vt:lpstr>PowerPoint Presentation</vt:lpstr>
      <vt:lpstr>PowerPoint Presentation</vt:lpstr>
      <vt:lpstr>Public Key   Basics RSA Applications (Encryption and Signing)  Prof Bill Buchanan OBE https://asecuritysite.com/rsa  https://asecuritysite.com/ecc https://asecuritysite.com/elgamal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edinsiaf</dc:creator>
  <cp:lastModifiedBy>Buchanan, Bill</cp:lastModifiedBy>
  <cp:revision>169</cp:revision>
  <cp:lastPrinted>2017-10-09T18:43:25Z</cp:lastPrinted>
  <dcterms:created xsi:type="dcterms:W3CDTF">2012-09-04T19:54:08Z</dcterms:created>
  <dcterms:modified xsi:type="dcterms:W3CDTF">2026-10-15T05:28:07Z</dcterms:modified>
</cp:coreProperties>
</file>