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0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1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6" r:id="rId4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sp>
        <p:nvSpPr>
          <p:cNvPr id="23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sp>
        <p:nvSpPr>
          <p:cNvPr id="32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pic>
        <p:nvPicPr>
          <p:cNvPr id="33" name="image.pdf" descr="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sp>
        <p:nvSpPr>
          <p:cNvPr id="44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pic>
        <p:nvPicPr>
          <p:cNvPr id="45" name="image.pdf" descr="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xfrm>
            <a:off x="1143000" y="1699022"/>
            <a:ext cx="6858000" cy="1790701"/>
          </a:xfrm>
          <a:prstGeom prst="rect">
            <a:avLst/>
          </a:prstGeom>
        </p:spPr>
        <p:txBody>
          <a:bodyPr lIns="34289" tIns="34289" rIns="34289" bIns="34289" anchor="b">
            <a:normAutofit/>
          </a:bodyPr>
          <a:lstStyle>
            <a:lvl1pPr algn="ctr">
              <a:lnSpc>
                <a:spcPct val="90000"/>
              </a:lnSpc>
              <a:defRPr sz="6000" b="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3558778"/>
            <a:ext cx="6858000" cy="1241822"/>
          </a:xfrm>
          <a:prstGeom prst="rect">
            <a:avLst/>
          </a:prstGeom>
          <a:noFill/>
        </p:spPr>
        <p:txBody>
          <a:bodyPr lIns="34289" tIns="34289" rIns="34289" bIns="34289">
            <a:norm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SzTx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marL="0" indent="457200" algn="ctr">
              <a:lnSpc>
                <a:spcPct val="90000"/>
              </a:lnSpc>
              <a:spcBef>
                <a:spcPts val="1000"/>
              </a:spcBef>
              <a:buSzTx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marL="0" indent="914400" algn="ctr">
              <a:lnSpc>
                <a:spcPct val="90000"/>
              </a:lnSpc>
              <a:spcBef>
                <a:spcPts val="1000"/>
              </a:spcBef>
              <a:buSzTx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0" indent="1371600" algn="ctr">
              <a:lnSpc>
                <a:spcPct val="90000"/>
              </a:lnSpc>
              <a:spcBef>
                <a:spcPts val="1000"/>
              </a:spcBef>
              <a:buSzTx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0" indent="1828800" algn="ctr">
              <a:lnSpc>
                <a:spcPct val="90000"/>
              </a:lnSpc>
              <a:spcBef>
                <a:spcPts val="1000"/>
              </a:spcBef>
              <a:buSzTx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79586" y="5638244"/>
            <a:ext cx="235765" cy="246381"/>
          </a:xfrm>
          <a:prstGeom prst="rect">
            <a:avLst/>
          </a:prstGeom>
        </p:spPr>
        <p:txBody>
          <a:bodyPr lIns="34289" tIns="34289" rIns="34289" bIns="34289"/>
          <a:lstStyle>
            <a:lvl1pPr>
              <a:defRPr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0" y="857250"/>
            <a:ext cx="7886700" cy="649701"/>
          </a:xfrm>
          <a:prstGeom prst="rect">
            <a:avLst/>
          </a:prstGeom>
        </p:spPr>
        <p:txBody>
          <a:bodyPr lIns="34289" tIns="34289" rIns="34289" bIns="34289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C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2226468"/>
            <a:ext cx="7886700" cy="3263505"/>
          </a:xfrm>
          <a:prstGeom prst="rect">
            <a:avLst/>
          </a:prstGeom>
          <a:noFill/>
        </p:spPr>
        <p:txBody>
          <a:bodyPr lIns="34289" tIns="34289" rIns="34289" bIns="34289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marL="723900" indent="-2667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marL="1234439" indent="-320039">
              <a:lnSpc>
                <a:spcPct val="90000"/>
              </a:lnSpc>
              <a:spcBef>
                <a:spcPts val="1000"/>
              </a:spcBef>
              <a:buFont typeface="Arial"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marL="1727200" indent="-355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marL="2184400" indent="-3556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79586" y="5638244"/>
            <a:ext cx="235765" cy="246381"/>
          </a:xfrm>
          <a:prstGeom prst="rect">
            <a:avLst/>
          </a:prstGeom>
        </p:spPr>
        <p:txBody>
          <a:bodyPr lIns="34289" tIns="34289" rIns="34289" bIns="34289"/>
          <a:lstStyle>
            <a:lvl1pPr>
              <a:defRPr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457200" y="800365"/>
            <a:ext cx="8229600" cy="95250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1097280">
              <a:defRPr sz="52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84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377163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407193" indent="-407193" defTabSz="1097280">
              <a:spcBef>
                <a:spcPts val="900"/>
              </a:spcBef>
              <a:buFont typeface="Arial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lvl1pPr>
            <a:lvl2pPr marL="845003" indent="-387803" defTabSz="1097280">
              <a:spcBef>
                <a:spcPts val="900"/>
              </a:spcBef>
              <a:buFont typeface="Arial"/>
              <a:defRPr sz="3800">
                <a:latin typeface="Calibri"/>
                <a:ea typeface="Calibri"/>
                <a:cs typeface="Calibri"/>
                <a:sym typeface="Calibri"/>
              </a:defRPr>
            </a:lvl2pPr>
            <a:lvl3pPr marL="1276350" indent="-361950" defTabSz="1097280">
              <a:spcBef>
                <a:spcPts val="900"/>
              </a:spcBef>
              <a:buFont typeface="Arial"/>
              <a:defRPr sz="3800">
                <a:latin typeface="Calibri"/>
                <a:ea typeface="Calibri"/>
                <a:cs typeface="Calibri"/>
                <a:sym typeface="Calibri"/>
              </a:defRPr>
            </a:lvl3pPr>
            <a:lvl4pPr marL="1805939" indent="-434339" defTabSz="1097280">
              <a:spcBef>
                <a:spcPts val="900"/>
              </a:spcBef>
              <a:buFont typeface="Arial"/>
              <a:defRPr sz="3800">
                <a:latin typeface="Calibri"/>
                <a:ea typeface="Calibri"/>
                <a:cs typeface="Calibri"/>
                <a:sym typeface="Calibri"/>
              </a:defRPr>
            </a:lvl4pPr>
            <a:lvl5pPr marL="2263139" indent="-434339" defTabSz="1097280">
              <a:spcBef>
                <a:spcPts val="900"/>
              </a:spcBef>
              <a:buFont typeface="Arial"/>
              <a:defRPr sz="38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2429" y="5866924"/>
            <a:ext cx="284372" cy="307341"/>
          </a:xfrm>
          <a:prstGeom prst="rect">
            <a:avLst/>
          </a:prstGeom>
        </p:spPr>
        <p:txBody>
          <a:bodyPr/>
          <a:lstStyle>
            <a:lvl1pPr defTabSz="1097280">
              <a:defRPr sz="1400" b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vest_&amp;_nu_logos" descr="invest_&amp;_nu_logo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662" y="6140450"/>
            <a:ext cx="5922963" cy="7175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sp>
        <p:nvSpPr>
          <p:cNvPr id="4" name="Author:  Bill Buchanan"/>
          <p:cNvSpPr txBox="1"/>
          <p:nvPr/>
        </p:nvSpPr>
        <p:spPr>
          <a:xfrm rot="16200000">
            <a:off x="8332613" y="6056166"/>
            <a:ext cx="1360809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 b="0">
                <a:solidFill>
                  <a:srgbClr val="B2B2B2"/>
                </a:solidFill>
              </a:defRPr>
            </a:lvl1pPr>
          </a:lstStyle>
          <a:p>
            <a:r>
              <a:t>Author:  Bill Buchanan</a:t>
            </a:r>
          </a:p>
        </p:txBody>
      </p:sp>
      <p:pic>
        <p:nvPicPr>
          <p:cNvPr id="5" name="image.pdf" descr="image.pd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838200" marR="0" indent="-3810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5908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480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052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962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"/>
        <a:tabLst/>
        <a:defRPr sz="2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title"/>
          </p:nvPr>
        </p:nvSpPr>
        <p:spPr>
          <a:xfrm>
            <a:off x="481012" y="68957"/>
            <a:ext cx="7619406" cy="6492330"/>
          </a:xfrm>
          <a:prstGeom prst="rect">
            <a:avLst/>
          </a:prstGeom>
        </p:spPr>
        <p:txBody>
          <a:bodyPr/>
          <a:lstStyle/>
          <a:p>
            <a:pPr algn="l">
              <a:defRPr sz="4600" b="1">
                <a:solidFill>
                  <a:srgbClr val="C00000"/>
                </a:solidFill>
              </a:defRPr>
            </a:pPr>
            <a:r>
              <a:rPr dirty="0"/>
              <a:t>Cryptography Fundamentals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endParaRPr dirty="0"/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Traditional ciphers.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Frequency Analysis.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Operators and GCD.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Encoding.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Big Integers.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Random Numbers.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Key-based Encryption.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br>
              <a:rPr sz="2000" b="0" dirty="0"/>
            </a:br>
            <a:br>
              <a:rPr sz="2000" b="0" dirty="0"/>
            </a:br>
            <a:r>
              <a:rPr sz="3200" dirty="0">
                <a:solidFill>
                  <a:srgbClr val="000000"/>
                </a:solidFill>
              </a:rPr>
              <a:t>Prof Bill Buchanan</a:t>
            </a:r>
            <a:br>
              <a:rPr sz="3200" dirty="0">
                <a:solidFill>
                  <a:srgbClr val="000000"/>
                </a:solidFill>
              </a:rPr>
            </a:br>
            <a:r>
              <a:rPr sz="2000" b="0" dirty="0"/>
              <a:t>http://</a:t>
            </a:r>
            <a:r>
              <a:rPr sz="2000" b="0" dirty="0" err="1"/>
              <a:t>asecuritysite.com</a:t>
            </a:r>
            <a:r>
              <a:rPr sz="2000" b="0" dirty="0"/>
              <a:t>/</a:t>
            </a:r>
            <a:r>
              <a:rPr lang="en-US" sz="2000" b="0" dirty="0"/>
              <a:t>cipher</a:t>
            </a:r>
            <a:br>
              <a:rPr sz="2000" b="0" dirty="0"/>
            </a:br>
            <a:endParaRPr sz="20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34C686-A174-4B4D-28AE-1A720B95B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426" y="1840375"/>
            <a:ext cx="4550562" cy="414217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Encryption"/>
          <p:cNvSpPr txBox="1">
            <a:spLocks noGrp="1"/>
          </p:cNvSpPr>
          <p:nvPr>
            <p:ph type="title"/>
          </p:nvPr>
        </p:nvSpPr>
        <p:spPr>
          <a:xfrm>
            <a:off x="0" y="-31329"/>
            <a:ext cx="7886700" cy="649702"/>
          </a:xfrm>
          <a:prstGeom prst="rect">
            <a:avLst/>
          </a:prstGeom>
        </p:spPr>
        <p:txBody>
          <a:bodyPr/>
          <a:lstStyle/>
          <a:p>
            <a:r>
              <a:t>Encryption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slow" advClick="1" p14:dur="1200">
        <p:wipe dir="l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Encryption"/>
          <p:cNvSpPr txBox="1">
            <a:spLocks noGrp="1"/>
          </p:cNvSpPr>
          <p:nvPr>
            <p:ph type="title"/>
          </p:nvPr>
        </p:nvSpPr>
        <p:spPr>
          <a:xfrm>
            <a:off x="0" y="-31329"/>
            <a:ext cx="7886700" cy="649702"/>
          </a:xfrm>
          <a:prstGeom prst="rect">
            <a:avLst/>
          </a:prstGeom>
        </p:spPr>
        <p:txBody>
          <a:bodyPr/>
          <a:lstStyle/>
          <a:p>
            <a:r>
              <a:t>Encryption</a:t>
            </a:r>
          </a:p>
        </p:txBody>
      </p:sp>
      <p:pic>
        <p:nvPicPr>
          <p:cNvPr id="97" name="image3.png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8" y="3901033"/>
            <a:ext cx="2887280" cy="2014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image1.pdf" descr="image1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82" y="1756915"/>
            <a:ext cx="1099507" cy="1560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image2.pdf" descr="image2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852" y="1607036"/>
            <a:ext cx="1326500" cy="18602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3528" y="3884678"/>
            <a:ext cx="1099507" cy="1509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7876" y="906337"/>
            <a:ext cx="1150948" cy="16166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031" y="1095342"/>
            <a:ext cx="1150947" cy="1238639"/>
          </a:xfrm>
          <a:prstGeom prst="rect">
            <a:avLst/>
          </a:prstGeom>
          <a:ln w="12700">
            <a:miter lim="400000"/>
          </a:ln>
          <a:effectLst>
            <a:outerShdw blurRad="190500" dist="88900" dir="16200000" rotWithShape="0">
              <a:srgbClr val="000000">
                <a:alpha val="70000"/>
              </a:srgbClr>
            </a:outerShdw>
          </a:effectLst>
        </p:spPr>
      </p:pic>
      <p:pic>
        <p:nvPicPr>
          <p:cNvPr id="103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4797" y="4601064"/>
            <a:ext cx="1215534" cy="1307273"/>
          </a:xfrm>
          <a:prstGeom prst="rect">
            <a:avLst/>
          </a:prstGeom>
          <a:ln w="12700">
            <a:miter lim="400000"/>
          </a:ln>
          <a:effectLst>
            <a:outerShdw blurRad="190500" dist="88900" dir="16200000" rotWithShape="0">
              <a:srgbClr val="000000">
                <a:alpha val="70000"/>
              </a:srgbClr>
            </a:outerShdw>
          </a:effectLst>
        </p:spPr>
      </p:pic>
      <p:pic>
        <p:nvPicPr>
          <p:cNvPr id="104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2107" y="2187431"/>
            <a:ext cx="1326500" cy="1423167"/>
          </a:xfrm>
          <a:prstGeom prst="rect">
            <a:avLst/>
          </a:prstGeom>
          <a:ln w="12700">
            <a:miter lim="400000"/>
          </a:ln>
          <a:effectLst>
            <a:outerShdw blurRad="190500" dist="88900" dir="16200000" rotWithShape="0">
              <a:srgbClr val="000000">
                <a:alpha val="70000"/>
              </a:srgbClr>
            </a:outerShdw>
          </a:effectLst>
        </p:spPr>
      </p:pic>
      <p:pic>
        <p:nvPicPr>
          <p:cNvPr id="105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1922" y="2475127"/>
            <a:ext cx="1326500" cy="1431361"/>
          </a:xfrm>
          <a:prstGeom prst="rect">
            <a:avLst/>
          </a:prstGeom>
          <a:ln w="12700">
            <a:miter lim="400000"/>
          </a:ln>
          <a:effectLst>
            <a:outerShdw blurRad="190500" dist="88900" dir="16200000" rotWithShape="0">
              <a:srgbClr val="000000">
                <a:alpha val="70000"/>
              </a:srgbClr>
            </a:outerShdw>
          </a:effectLst>
        </p:spPr>
      </p:pic>
      <p:sp>
        <p:nvSpPr>
          <p:cNvPr id="106" name="Encryption works great, until it doesn't.…"/>
          <p:cNvSpPr txBox="1"/>
          <p:nvPr/>
        </p:nvSpPr>
        <p:spPr>
          <a:xfrm>
            <a:off x="5082093" y="4140344"/>
            <a:ext cx="3990953" cy="2303781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tIns="34289" rIns="34289" bIns="34289">
            <a:spAutoFit/>
          </a:bodyPr>
          <a:lstStyle/>
          <a:p>
            <a:pPr marL="180473" indent="-180473">
              <a:buSzPct val="100000"/>
              <a:buChar char="•"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Encryption works great, until it doesn't. </a:t>
            </a:r>
          </a:p>
          <a:p>
            <a:pPr marL="180473" indent="-180473">
              <a:buSzPct val="100000"/>
              <a:buChar char="•"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Encryption works great, as long as no one makes a mistake. </a:t>
            </a:r>
          </a:p>
          <a:p>
            <a:pPr marL="180473" indent="-180473">
              <a:buSzPct val="100000"/>
              <a:buChar char="•"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Encryption works great, unless something goes wrong. </a:t>
            </a:r>
          </a:p>
          <a:p>
            <a:pPr marL="180473" indent="-180473">
              <a:buSzPct val="100000"/>
              <a:buChar char="•"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Encryption works great, as long as everything works right. </a:t>
            </a:r>
          </a:p>
        </p:txBody>
      </p:sp>
    </p:spTree>
    <p:extLst>
      <p:ext uri="{BB962C8B-B14F-4D97-AF65-F5344CB8AC3E}">
        <p14:creationId xmlns:p14="http://schemas.microsoft.com/office/powerpoint/2010/main" val="12933944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slow" advClick="1" p14:dur="1200">
        <p:wipe dir="l"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09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10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51950" cy="68865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13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14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17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18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341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21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22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437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25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26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0"/>
            <a:ext cx="9115425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29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30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484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33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34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802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37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38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0"/>
            <a:ext cx="91313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41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42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912495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61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62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818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65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66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8" y="0"/>
            <a:ext cx="9177338" cy="68421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7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7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82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83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119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86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8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90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9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94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9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9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9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02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03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0"/>
            <a:ext cx="9153525" cy="68818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06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0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83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10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1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"/>
          <p:cNvSpPr txBox="1">
            <a:spLocks noGrp="1"/>
          </p:cNvSpPr>
          <p:nvPr>
            <p:ph type="title" idx="4294967295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14" name="Body"/>
          <p:cNvSpPr txBox="1">
            <a:spLocks noGrp="1"/>
          </p:cNvSpPr>
          <p:nvPr>
            <p:ph type="body" sz="quarter" idx="4294967295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1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9124950" cy="68691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21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1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9137650" cy="68802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22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23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26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2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30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3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34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3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38" y="0"/>
            <a:ext cx="9164638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3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3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42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43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46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46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47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50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51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54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5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5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59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62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63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66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67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70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71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74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75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7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79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34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82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83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9140825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86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0"/>
            <a:ext cx="9153525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90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9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94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9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 xmlns:m="http://schemas.openxmlformats.org/officeDocument/2006/math" xmlns:a14="http://schemas.microsoft.com/office/drawing/2010/main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itle"/>
          <p:cNvSpPr txBox="1">
            <a:spLocks noGrp="1"/>
          </p:cNvSpPr>
          <p:nvPr>
            <p:ph type="title" idx="4294967295"/>
          </p:nvPr>
        </p:nvSpPr>
        <p:spPr>
          <a:xfrm>
            <a:off x="914400" y="-3889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98" name="Body"/>
          <p:cNvSpPr txBox="1">
            <a:spLocks noGrp="1"/>
          </p:cNvSpPr>
          <p:nvPr>
            <p:ph type="body" sz="half" idx="4294967295"/>
          </p:nvPr>
        </p:nvSpPr>
        <p:spPr>
          <a:xfrm>
            <a:off x="1069975" y="1709737"/>
            <a:ext cx="7391400" cy="335280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299" name="image.tif" descr="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title"/>
          </p:nvPr>
        </p:nvSpPr>
        <p:spPr>
          <a:xfrm>
            <a:off x="481012" y="68957"/>
            <a:ext cx="7619406" cy="6492330"/>
          </a:xfrm>
          <a:prstGeom prst="rect">
            <a:avLst/>
          </a:prstGeom>
        </p:spPr>
        <p:txBody>
          <a:bodyPr/>
          <a:lstStyle/>
          <a:p>
            <a:pPr algn="l">
              <a:defRPr sz="4600" b="1">
                <a:solidFill>
                  <a:srgbClr val="C00000"/>
                </a:solidFill>
              </a:defRPr>
            </a:pPr>
            <a:r>
              <a:rPr dirty="0"/>
              <a:t>Cryptography Fundamentals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endParaRPr dirty="0"/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Traditional ciphers.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Frequency Analysis.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Operators and GCD.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Encoding.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Big Integers.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Random Numbers.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r>
              <a:rPr sz="2000" b="0" dirty="0"/>
              <a:t>Key-based Encryption.</a:t>
            </a:r>
          </a:p>
          <a:p>
            <a:pPr algn="l">
              <a:defRPr sz="4600" b="1">
                <a:solidFill>
                  <a:srgbClr val="C00000"/>
                </a:solidFill>
              </a:defRPr>
            </a:pPr>
            <a:br>
              <a:rPr sz="2000" b="0" dirty="0"/>
            </a:br>
            <a:br>
              <a:rPr sz="2000" b="0" dirty="0"/>
            </a:br>
            <a:r>
              <a:rPr sz="3200" dirty="0">
                <a:solidFill>
                  <a:srgbClr val="000000"/>
                </a:solidFill>
              </a:rPr>
              <a:t>Prof Bill Buchanan</a:t>
            </a:r>
            <a:br>
              <a:rPr sz="3200" dirty="0">
                <a:solidFill>
                  <a:srgbClr val="000000"/>
                </a:solidFill>
              </a:rPr>
            </a:br>
            <a:r>
              <a:rPr sz="2000" b="0" dirty="0"/>
              <a:t>http://</a:t>
            </a:r>
            <a:r>
              <a:rPr sz="2000" b="0" dirty="0" err="1"/>
              <a:t>asecuritysite.com</a:t>
            </a:r>
            <a:r>
              <a:rPr sz="2000" b="0" dirty="0"/>
              <a:t>/</a:t>
            </a:r>
            <a:r>
              <a:rPr lang="en-US" sz="2000" b="0" dirty="0"/>
              <a:t>cipher</a:t>
            </a:r>
            <a:br>
              <a:rPr sz="2000" b="0" dirty="0"/>
            </a:br>
            <a:endParaRPr sz="20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34C686-A174-4B4D-28AE-1A720B95B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426" y="1840375"/>
            <a:ext cx="4550562" cy="41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8327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nu_template_b&amp;w">
  <a:themeElements>
    <a:clrScheme name="1_nu_template_b&amp;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nu_template_b&amp;w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1_nu_template_b&amp;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nu_template_b&amp;w">
  <a:themeElements>
    <a:clrScheme name="1_nu_template_b&amp;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_nu_template_b&amp;w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1_nu_template_b&amp;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118</Words>
  <Application>Microsoft Macintosh PowerPoint</Application>
  <PresentationFormat>On-screen Show (4:3)</PresentationFormat>
  <Paragraphs>27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Times New Roman</vt:lpstr>
      <vt:lpstr>1_nu_template_b&amp;w</vt:lpstr>
      <vt:lpstr>Cryptography Fundamentals  Traditional ciphers. Frequency Analysis. Operators and GCD. Encoding. Big Integers. Random Numbers. Key-based Encryption.   Prof Bill Buchanan http://asecuritysite.com/cipher </vt:lpstr>
      <vt:lpstr>Encryption</vt:lpstr>
      <vt:lpstr>Encryption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Cryptography Fundamentals  Traditional ciphers. Frequency Analysis. Operators and GCD. Encoding. Big Integers. Random Numbers. Key-based Encryption.   Prof Bill Buchanan http://asecuritysite.com/cipher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Fundamentals  Traditional ciphers. Frequency Analysis. Operators and GCD. Encoding. Big Integers. Random Numbers. Key-based Encryption.   Prof Bill Buchanan http://asecuritysite.com/encryption </dc:title>
  <cp:lastModifiedBy>Buchanan, Bill</cp:lastModifiedBy>
  <cp:revision>8</cp:revision>
  <dcterms:modified xsi:type="dcterms:W3CDTF">2026-10-01T07:18:17Z</dcterms:modified>
</cp:coreProperties>
</file>