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314" r:id="rId2"/>
    <p:sldId id="511" r:id="rId3"/>
    <p:sldId id="508" r:id="rId4"/>
    <p:sldId id="509" r:id="rId5"/>
    <p:sldId id="520" r:id="rId6"/>
    <p:sldId id="519" r:id="rId7"/>
    <p:sldId id="516" r:id="rId8"/>
    <p:sldId id="517" r:id="rId9"/>
  </p:sldIdLst>
  <p:sldSz cx="9144000" cy="5715000" type="screen16x1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56"/>
    <p:restoredTop sz="94589"/>
  </p:normalViewPr>
  <p:slideViewPr>
    <p:cSldViewPr snapToGrid="0" snapToObjects="1">
      <p:cViewPr varScale="1">
        <p:scale>
          <a:sx n="121" d="100"/>
          <a:sy n="121" d="100"/>
        </p:scale>
        <p:origin x="184" y="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8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0" name="Shape 9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spcBef>
        <a:spcPts val="400"/>
      </a:spcBef>
      <a:defRPr sz="1200">
        <a:latin typeface="+mn-lt"/>
        <a:ea typeface="+mn-ea"/>
        <a:cs typeface="+mn-cs"/>
        <a:sym typeface="Calibri"/>
      </a:defRPr>
    </a:lvl1pPr>
    <a:lvl2pPr indent="228600" latinLnBrk="0">
      <a:spcBef>
        <a:spcPts val="400"/>
      </a:spcBef>
      <a:defRPr sz="1200">
        <a:latin typeface="+mn-lt"/>
        <a:ea typeface="+mn-ea"/>
        <a:cs typeface="+mn-cs"/>
        <a:sym typeface="Calibri"/>
      </a:defRPr>
    </a:lvl2pPr>
    <a:lvl3pPr indent="457200" latinLnBrk="0">
      <a:spcBef>
        <a:spcPts val="400"/>
      </a:spcBef>
      <a:defRPr sz="1200">
        <a:latin typeface="+mn-lt"/>
        <a:ea typeface="+mn-ea"/>
        <a:cs typeface="+mn-cs"/>
        <a:sym typeface="Calibri"/>
      </a:defRPr>
    </a:lvl3pPr>
    <a:lvl4pPr indent="685800" latinLnBrk="0">
      <a:spcBef>
        <a:spcPts val="400"/>
      </a:spcBef>
      <a:defRPr sz="1200">
        <a:latin typeface="+mn-lt"/>
        <a:ea typeface="+mn-ea"/>
        <a:cs typeface="+mn-cs"/>
        <a:sym typeface="Calibri"/>
      </a:defRPr>
    </a:lvl4pPr>
    <a:lvl5pPr indent="914400" latinLnBrk="0">
      <a:spcBef>
        <a:spcPts val="400"/>
      </a:spcBef>
      <a:defRPr sz="1200">
        <a:latin typeface="+mn-lt"/>
        <a:ea typeface="+mn-ea"/>
        <a:cs typeface="+mn-cs"/>
        <a:sym typeface="Calibri"/>
      </a:defRPr>
    </a:lvl5pPr>
    <a:lvl6pPr indent="1143000" latinLnBrk="0">
      <a:spcBef>
        <a:spcPts val="400"/>
      </a:spcBef>
      <a:defRPr sz="1200">
        <a:latin typeface="+mn-lt"/>
        <a:ea typeface="+mn-ea"/>
        <a:cs typeface="+mn-cs"/>
        <a:sym typeface="Calibri"/>
      </a:defRPr>
    </a:lvl6pPr>
    <a:lvl7pPr indent="1371600" latinLnBrk="0">
      <a:spcBef>
        <a:spcPts val="400"/>
      </a:spcBef>
      <a:defRPr sz="1200">
        <a:latin typeface="+mn-lt"/>
        <a:ea typeface="+mn-ea"/>
        <a:cs typeface="+mn-cs"/>
        <a:sym typeface="Calibri"/>
      </a:defRPr>
    </a:lvl7pPr>
    <a:lvl8pPr indent="1600200" latinLnBrk="0">
      <a:spcBef>
        <a:spcPts val="400"/>
      </a:spcBef>
      <a:defRPr sz="1200">
        <a:latin typeface="+mn-lt"/>
        <a:ea typeface="+mn-ea"/>
        <a:cs typeface="+mn-cs"/>
        <a:sym typeface="Calibri"/>
      </a:defRPr>
    </a:lvl8pPr>
    <a:lvl9pPr indent="1828800" latinLnBrk="0">
      <a:spcBef>
        <a:spcPts val="400"/>
      </a:spcBef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28178" y="5314474"/>
            <a:ext cx="258623" cy="269239"/>
          </a:xfrm>
          <a:prstGeom prst="rect">
            <a:avLst/>
          </a:prstGeom>
        </p:spPr>
        <p:txBody>
          <a:bodyPr lIns="45718" tIns="45718" rIns="45718" bIns="45718"/>
          <a:lstStyle>
            <a:lvl1pPr defTabSz="914400">
              <a:defRPr sz="1200">
                <a:solidFill>
                  <a:srgbClr val="898989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Text"/>
          <p:cNvSpPr txBox="1">
            <a:spLocks noGrp="1"/>
          </p:cNvSpPr>
          <p:nvPr>
            <p:ph type="title"/>
          </p:nvPr>
        </p:nvSpPr>
        <p:spPr>
          <a:xfrm>
            <a:off x="761998" y="714373"/>
            <a:ext cx="6572254" cy="541420"/>
          </a:xfrm>
          <a:prstGeom prst="rect">
            <a:avLst/>
          </a:prstGeom>
        </p:spPr>
        <p:txBody>
          <a:bodyPr lIns="28575" tIns="28575" rIns="28575" bIns="28575"/>
          <a:lstStyle>
            <a:lvl1pPr>
              <a:defRPr sz="2800"/>
            </a:lvl1pPr>
          </a:lstStyle>
          <a:p>
            <a:r>
              <a:t>Title Text</a:t>
            </a:r>
          </a:p>
        </p:txBody>
      </p:sp>
      <p:sp>
        <p:nvSpPr>
          <p:cNvPr id="28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285874" y="1855390"/>
            <a:ext cx="6572253" cy="2719587"/>
          </a:xfrm>
          <a:prstGeom prst="rect">
            <a:avLst/>
          </a:prstGeom>
        </p:spPr>
        <p:txBody>
          <a:bodyPr lIns="28574" tIns="28574" rIns="28574" bIns="28574"/>
          <a:lstStyle>
            <a:lvl1pPr marL="179614" indent="-179614"/>
            <a:lvl3pPr marL="1165860" indent="-251460"/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672412" y="4702770"/>
            <a:ext cx="185713" cy="196851"/>
          </a:xfrm>
          <a:prstGeom prst="rect">
            <a:avLst/>
          </a:prstGeom>
        </p:spPr>
        <p:txBody>
          <a:bodyPr lIns="28575" tIns="28575" rIns="28575" bIns="28575"/>
          <a:lstStyle>
            <a:lvl1pPr>
              <a:defRPr sz="9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itle Text"/>
          <p:cNvSpPr txBox="1">
            <a:spLocks noGrp="1"/>
          </p:cNvSpPr>
          <p:nvPr>
            <p:ph type="title"/>
          </p:nvPr>
        </p:nvSpPr>
        <p:spPr>
          <a:xfrm>
            <a:off x="2000249" y="812101"/>
            <a:ext cx="4436270" cy="745630"/>
          </a:xfrm>
          <a:prstGeom prst="rect">
            <a:avLst/>
          </a:prstGeom>
        </p:spPr>
        <p:txBody>
          <a:bodyPr lIns="25717" tIns="25717" rIns="25717" bIns="25717"/>
          <a:lstStyle>
            <a:lvl1pPr>
              <a:defRPr sz="2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Title Text</a:t>
            </a:r>
          </a:p>
        </p:txBody>
      </p:sp>
      <p:sp>
        <p:nvSpPr>
          <p:cNvPr id="3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2353865" y="1955601"/>
            <a:ext cx="4436270" cy="2447629"/>
          </a:xfrm>
          <a:prstGeom prst="rect">
            <a:avLst/>
          </a:prstGeom>
        </p:spPr>
        <p:txBody>
          <a:bodyPr lIns="25717" tIns="25717" rIns="25717" bIns="25717"/>
          <a:lstStyle>
            <a:lvl1pPr marL="163285" indent="-163285">
              <a:defRPr sz="2000">
                <a:latin typeface="Arial"/>
                <a:ea typeface="Arial"/>
                <a:cs typeface="Arial"/>
                <a:sym typeface="Arial"/>
              </a:defRPr>
            </a:lvl1pPr>
            <a:lvl2pPr marL="647700" indent="-190500">
              <a:defRPr sz="2000">
                <a:latin typeface="Arial"/>
                <a:ea typeface="Arial"/>
                <a:cs typeface="Arial"/>
                <a:sym typeface="Arial"/>
              </a:defRPr>
            </a:lvl2pPr>
            <a:lvl3pPr marL="1143000" indent="-228600">
              <a:defRPr sz="2000">
                <a:latin typeface="Arial"/>
                <a:ea typeface="Arial"/>
                <a:cs typeface="Arial"/>
                <a:sym typeface="Arial"/>
              </a:defRPr>
            </a:lvl3pPr>
            <a:lvl4pPr marL="1625600" indent="-254000">
              <a:defRPr sz="2000">
                <a:latin typeface="Arial"/>
                <a:ea typeface="Arial"/>
                <a:cs typeface="Arial"/>
                <a:sym typeface="Arial"/>
              </a:defRPr>
            </a:lvl4pPr>
            <a:lvl5pPr marL="2082800" indent="-254000">
              <a:defRPr sz="2000">
                <a:latin typeface="Arial"/>
                <a:ea typeface="Arial"/>
                <a:cs typeface="Arial"/>
                <a:sym typeface="Arial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598862" y="4519478"/>
            <a:ext cx="191273" cy="174697"/>
          </a:xfrm>
          <a:prstGeom prst="rect">
            <a:avLst/>
          </a:prstGeom>
        </p:spPr>
        <p:txBody>
          <a:bodyPr lIns="25717" tIns="25717" rIns="25717" bIns="25717"/>
          <a:lstStyle>
            <a:lvl1pPr>
              <a:defRPr sz="900">
                <a:latin typeface="Arial"/>
                <a:ea typeface="Arial"/>
                <a:cs typeface="Arial"/>
                <a:sym typeface="Arial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0" y="285750"/>
            <a:ext cx="7886700" cy="64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4289" tIns="34289" rIns="34289" bIns="3428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628650" y="1654968"/>
            <a:ext cx="7886700" cy="32635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4289" tIns="34289" rIns="34289" bIns="3428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305335" y="5073095"/>
            <a:ext cx="210015" cy="233679"/>
          </a:xfrm>
          <a:prstGeom prst="rect">
            <a:avLst/>
          </a:prstGeom>
          <a:ln w="12700">
            <a:miter lim="400000"/>
          </a:ln>
        </p:spPr>
        <p:txBody>
          <a:bodyPr wrap="none" lIns="34289" tIns="34289" rIns="34289" bIns="34289" anchor="ctr">
            <a:spAutoFit/>
          </a:bodyPr>
          <a:lstStyle>
            <a:lvl1pPr algn="r" defTabSz="762000">
              <a:defRPr sz="1000">
                <a:solidFill>
                  <a:srgbClr val="888888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</p:sldLayoutIdLst>
  <p:transition spd="med"/>
  <p:txStyles>
    <p:titleStyle>
      <a:lvl1pPr marL="0" marR="0" indent="0" algn="l" defTabSz="7620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0" baseline="0">
          <a:solidFill>
            <a:srgbClr val="C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7620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0" baseline="0">
          <a:solidFill>
            <a:srgbClr val="C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7620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0" baseline="0">
          <a:solidFill>
            <a:srgbClr val="C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7620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0" baseline="0">
          <a:solidFill>
            <a:srgbClr val="C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7620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0" baseline="0">
          <a:solidFill>
            <a:srgbClr val="C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7620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0" baseline="0">
          <a:solidFill>
            <a:srgbClr val="C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7620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0" baseline="0">
          <a:solidFill>
            <a:srgbClr val="C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7620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0" baseline="0">
          <a:solidFill>
            <a:srgbClr val="C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7620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0" baseline="0">
          <a:solidFill>
            <a:srgbClr val="C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179614" marR="0" indent="-179614" algn="l" defTabSz="76200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/>
        <a:buChar char="•"/>
        <a:tabLst/>
        <a:defRPr sz="2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666750" marR="0" indent="-209550" algn="l" defTabSz="76200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/>
        <a:buChar char="•"/>
        <a:tabLst/>
        <a:defRPr sz="2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165859" marR="0" indent="-251459" algn="l" defTabSz="76200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/>
        <a:buChar char="•"/>
        <a:tabLst/>
        <a:defRPr sz="2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651000" marR="0" indent="-279400" algn="l" defTabSz="76200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/>
        <a:buChar char="•"/>
        <a:tabLst/>
        <a:defRPr sz="2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08200" marR="0" indent="-279400" algn="l" defTabSz="76200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/>
        <a:buChar char="•"/>
        <a:tabLst/>
        <a:defRPr sz="2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565400" marR="0" indent="-279400" algn="l" defTabSz="76200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/>
        <a:buChar char="•"/>
        <a:tabLst/>
        <a:defRPr sz="2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022600" marR="0" indent="-279400" algn="l" defTabSz="76200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/>
        <a:buChar char="•"/>
        <a:tabLst/>
        <a:defRPr sz="2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479800" marR="0" indent="-279400" algn="l" defTabSz="76200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/>
        <a:buChar char="•"/>
        <a:tabLst/>
        <a:defRPr sz="2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3937000" marR="0" indent="-279400" algn="l" defTabSz="76200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/>
        <a:buChar char="•"/>
        <a:tabLst/>
        <a:defRPr sz="2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7620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7620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7620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7620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7620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7620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7620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7620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7620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6.jpeg"/><Relationship Id="rId7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hyperlink" Target="https://www.ncsc.gov.uk/information/ace-cse-gold-and-silver-awards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securitysite.com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securitysite.com/aws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8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Chapter 10: Blockchain and Cryptocurrencies  Cryptocurrencies Bitcoin addresses Blockchain Mining Ethereum Smart Contracts  Prof Bill Buchanan OBE http://asecuritysite.com/crypto10 http://asecuritysite.com/encryption"/>
          <p:cNvSpPr txBox="1">
            <a:spLocks noGrp="1"/>
          </p:cNvSpPr>
          <p:nvPr>
            <p:ph type="title" idx="4294967295"/>
          </p:nvPr>
        </p:nvSpPr>
        <p:spPr>
          <a:xfrm>
            <a:off x="468311" y="961528"/>
            <a:ext cx="5327653" cy="4106120"/>
          </a:xfrm>
          <a:prstGeom prst="rect">
            <a:avLst/>
          </a:prstGeom>
        </p:spPr>
        <p:txBody>
          <a:bodyPr lIns="45718" tIns="45718" rIns="45718" bIns="45718"/>
          <a:lstStyle/>
          <a:p>
            <a:pPr defTabSz="758951">
              <a:lnSpc>
                <a:spcPct val="100000"/>
              </a:lnSpc>
              <a:defRPr sz="2300" b="1">
                <a:latin typeface="+mn-lt"/>
                <a:ea typeface="+mn-ea"/>
                <a:cs typeface="+mn-cs"/>
                <a:sym typeface="Calibri"/>
              </a:defRPr>
            </a:pPr>
            <a:r>
              <a:rPr lang="en-US" sz="3400" dirty="0">
                <a:solidFill>
                  <a:schemeClr val="tx1"/>
                </a:solidFill>
              </a:rPr>
              <a:t>Introduction</a:t>
            </a:r>
            <a:br>
              <a:rPr dirty="0"/>
            </a:br>
            <a:br>
              <a:rPr dirty="0"/>
            </a:br>
            <a:endParaRPr dirty="0"/>
          </a:p>
          <a:p>
            <a:pPr defTabSz="758951">
              <a:lnSpc>
                <a:spcPct val="100000"/>
              </a:lnSpc>
              <a:defRPr sz="2300" b="1">
                <a:latin typeface="+mn-lt"/>
                <a:ea typeface="+mn-ea"/>
                <a:cs typeface="+mn-cs"/>
                <a:sym typeface="Calibri"/>
              </a:defRPr>
            </a:pPr>
            <a:r>
              <a:rPr lang="en-US" sz="1700" dirty="0"/>
              <a:t>Module Overview</a:t>
            </a:r>
            <a:br>
              <a:rPr lang="en-US" sz="1700" dirty="0"/>
            </a:br>
            <a:r>
              <a:rPr lang="en-US" sz="1700" dirty="0"/>
              <a:t>Timetable</a:t>
            </a:r>
            <a:br>
              <a:rPr lang="en-US" sz="1700" dirty="0"/>
            </a:br>
            <a:r>
              <a:rPr lang="en-US" sz="1700" dirty="0" err="1"/>
              <a:t>vSoC</a:t>
            </a:r>
            <a:r>
              <a:rPr lang="en-US" sz="1700" dirty="0"/>
              <a:t> 2/AWS</a:t>
            </a:r>
            <a:br>
              <a:rPr sz="1700" b="0" dirty="0"/>
            </a:br>
            <a:br>
              <a:rPr sz="1600" b="0" dirty="0"/>
            </a:br>
            <a:r>
              <a:rPr b="0" dirty="0"/>
              <a:t>Prof Bill Buchanan OBE</a:t>
            </a:r>
            <a:r>
              <a:rPr lang="en-US" b="0" dirty="0"/>
              <a:t>, FRSE</a:t>
            </a:r>
            <a:br>
              <a:rPr sz="1600" b="0" dirty="0"/>
            </a:br>
            <a:r>
              <a:rPr lang="en-GB" sz="1600" b="1" dirty="0"/>
              <a:t>https://</a:t>
            </a:r>
            <a:r>
              <a:rPr lang="en-GB" sz="1600" b="1" dirty="0" err="1"/>
              <a:t>asecuritysite.com</a:t>
            </a:r>
            <a:br>
              <a:rPr sz="1600" b="0" dirty="0"/>
            </a:br>
            <a:endParaRPr sz="1600" b="0" dirty="0"/>
          </a:p>
        </p:txBody>
      </p:sp>
      <p:pic>
        <p:nvPicPr>
          <p:cNvPr id="4" name="Picture 3" descr="A picture containing text, cup, coffee, table&#10;&#10;Description automatically generated">
            <a:extLst>
              <a:ext uri="{FF2B5EF4-FFF2-40B4-BE49-F238E27FC236}">
                <a16:creationId xmlns:a16="http://schemas.microsoft.com/office/drawing/2014/main" id="{78767795-870D-9543-9B2F-F429AFE704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529222"/>
            <a:ext cx="3960975" cy="297073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8380DD7-BF5B-F1F3-C97E-72FBF056F6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3026" y="4909117"/>
            <a:ext cx="1522538" cy="730818"/>
          </a:xfrm>
          <a:prstGeom prst="rect">
            <a:avLst/>
          </a:prstGeom>
        </p:spPr>
      </p:pic>
      <p:pic>
        <p:nvPicPr>
          <p:cNvPr id="5" name="Picture 4" descr="A picture containing logo&#10;&#10;Description automatically generated">
            <a:extLst>
              <a:ext uri="{FF2B5EF4-FFF2-40B4-BE49-F238E27FC236}">
                <a16:creationId xmlns:a16="http://schemas.microsoft.com/office/drawing/2014/main" id="{6F124E27-C1CE-C9E9-3EDA-A6B8F45A4F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8093" y="4834053"/>
            <a:ext cx="2108334" cy="880947"/>
          </a:xfrm>
          <a:prstGeom prst="rect">
            <a:avLst/>
          </a:prstGeom>
        </p:spPr>
      </p:pic>
      <p:pic>
        <p:nvPicPr>
          <p:cNvPr id="2" name="Picture 2" descr="Logo">
            <a:extLst>
              <a:ext uri="{FF2B5EF4-FFF2-40B4-BE49-F238E27FC236}">
                <a16:creationId xmlns:a16="http://schemas.microsoft.com/office/drawing/2014/main" id="{03B62462-D82C-70A8-3B72-2ABF79023F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501173" cy="1478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close-up of a security card&#10;&#10;AI-generated content may be incorrect.">
            <a:extLst>
              <a:ext uri="{FF2B5EF4-FFF2-40B4-BE49-F238E27FC236}">
                <a16:creationId xmlns:a16="http://schemas.microsoft.com/office/drawing/2014/main" id="{B7E408C4-5E74-E8E0-CDB9-AF2507A9D3A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7" y="4855383"/>
            <a:ext cx="4564063" cy="834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058285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dirty="0"/>
          </a:p>
        </p:txBody>
      </p:sp>
      <p:pic>
        <p:nvPicPr>
          <p:cNvPr id="9" name="Picture 2" descr="Logo">
            <a:extLst>
              <a:ext uri="{FF2B5EF4-FFF2-40B4-BE49-F238E27FC236}">
                <a16:creationId xmlns:a16="http://schemas.microsoft.com/office/drawing/2014/main" id="{348F1697-5968-604E-AF7B-F71888E05D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501173" cy="1478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956" name="Picture 4">
            <a:extLst>
              <a:ext uri="{FF2B5EF4-FFF2-40B4-BE49-F238E27FC236}">
                <a16:creationId xmlns:a16="http://schemas.microsoft.com/office/drawing/2014/main" id="{0B6FA367-8741-AC43-95CF-5267586D76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065" y="1520487"/>
            <a:ext cx="769183" cy="998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00002AB-45C0-5249-8DF4-1CB61963171F}"/>
              </a:ext>
            </a:extLst>
          </p:cNvPr>
          <p:cNvSpPr/>
          <p:nvPr/>
        </p:nvSpPr>
        <p:spPr>
          <a:xfrm>
            <a:off x="1295958" y="1635747"/>
            <a:ext cx="3901562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500" dirty="0">
                <a:latin typeface="Slack-Lato"/>
              </a:rPr>
              <a:t>Professor Bill Buchanan OBE. </a:t>
            </a:r>
            <a:br>
              <a:rPr lang="en-GB" sz="1500" dirty="0">
                <a:latin typeface="Slack-Lato"/>
              </a:rPr>
            </a:br>
            <a:r>
              <a:rPr lang="en-GB" sz="1500" dirty="0">
                <a:latin typeface="Slack-Lato"/>
              </a:rPr>
              <a:t>Twitter: @</a:t>
            </a:r>
            <a:r>
              <a:rPr lang="en-GB" sz="1500" dirty="0" err="1">
                <a:latin typeface="Slack-Lato"/>
              </a:rPr>
              <a:t>billatnapier</a:t>
            </a:r>
            <a:r>
              <a:rPr lang="en-GB" sz="1500" dirty="0">
                <a:latin typeface="Slack-Lato"/>
              </a:rPr>
              <a:t> </a:t>
            </a:r>
            <a:br>
              <a:rPr lang="en-GB" sz="1500" dirty="0">
                <a:latin typeface="Slack-Lato"/>
              </a:rPr>
            </a:br>
            <a:r>
              <a:rPr lang="en-GB" sz="1500" dirty="0">
                <a:latin typeface="Slack-Lato"/>
              </a:rPr>
              <a:t>Web: </a:t>
            </a:r>
            <a:r>
              <a:rPr lang="en-GB" sz="1500" dirty="0" err="1">
                <a:latin typeface="Slack-Lato"/>
              </a:rPr>
              <a:t>asecuritysite.com</a:t>
            </a:r>
            <a:endParaRPr lang="en-US" sz="1500" dirty="0"/>
          </a:p>
        </p:txBody>
      </p:sp>
      <p:pic>
        <p:nvPicPr>
          <p:cNvPr id="2" name="Image" descr="Image">
            <a:extLst>
              <a:ext uri="{FF2B5EF4-FFF2-40B4-BE49-F238E27FC236}">
                <a16:creationId xmlns:a16="http://schemas.microsoft.com/office/drawing/2014/main" id="{E3755EF0-D63B-1DD0-9E1C-4D166892C5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6118" y="3025667"/>
            <a:ext cx="1644224" cy="2309516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10F7DCB6-2A0F-8619-692F-CD2C669335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08061" y="3035751"/>
            <a:ext cx="1631724" cy="2309517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BA78FCC-4550-0079-9545-F4606E4C10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28200" y="3025666"/>
            <a:ext cx="1681930" cy="2309515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F094CB2-B027-51D8-6F7A-8CF920FDB93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8513" y="3025667"/>
            <a:ext cx="1631725" cy="232968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8" name="Picture 4" descr="sana ullah jan">
            <a:extLst>
              <a:ext uri="{FF2B5EF4-FFF2-40B4-BE49-F238E27FC236}">
                <a16:creationId xmlns:a16="http://schemas.microsoft.com/office/drawing/2014/main" id="{0003BF5F-F46D-1C69-5224-CAE9C385E1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0570" y="2043831"/>
            <a:ext cx="818305" cy="818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2E8DF1D-C038-A712-E77D-EA9E81C2365C}"/>
              </a:ext>
            </a:extLst>
          </p:cNvPr>
          <p:cNvSpPr txBox="1"/>
          <p:nvPr/>
        </p:nvSpPr>
        <p:spPr>
          <a:xfrm>
            <a:off x="6506677" y="2518946"/>
            <a:ext cx="2755583" cy="3385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GB" sz="1600" dirty="0"/>
              <a:t>Sana Ullah Jan</a:t>
            </a:r>
          </a:p>
        </p:txBody>
      </p:sp>
      <p:pic>
        <p:nvPicPr>
          <p:cNvPr id="7" name="Picture 6" descr="A screenshot of a cell phone&#10;&#10;AI-generated content may be incorrect.">
            <a:hlinkClick r:id="rId9"/>
            <a:extLst>
              <a:ext uri="{FF2B5EF4-FFF2-40B4-BE49-F238E27FC236}">
                <a16:creationId xmlns:a16="http://schemas.microsoft.com/office/drawing/2014/main" id="{35C7E6FF-16F3-68E7-0E9D-A34BCA6B96E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5239" y="0"/>
            <a:ext cx="3621906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06792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DAD626D-0072-0EC3-2594-9B47314AF8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476" y="1392153"/>
            <a:ext cx="4328248" cy="453103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3B785D3-304B-2D49-B0DC-5A92D58D3EA9}"/>
              </a:ext>
            </a:extLst>
          </p:cNvPr>
          <p:cNvSpPr/>
          <p:nvPr/>
        </p:nvSpPr>
        <p:spPr>
          <a:xfrm>
            <a:off x="4358057" y="5315630"/>
            <a:ext cx="6956694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500" b="1" dirty="0">
                <a:latin typeface="Arial" panose="020B0604020202020204" pitchFamily="34" charset="0"/>
                <a:cs typeface="Arial" panose="020B0604020202020204" pitchFamily="34" charset="0"/>
              </a:rPr>
              <a:t>git clone https://</a:t>
            </a:r>
            <a:r>
              <a:rPr lang="en-GB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github.com</a:t>
            </a:r>
            <a:r>
              <a:rPr lang="en-GB" sz="1500" b="1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GB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billbuchanan</a:t>
            </a:r>
            <a:r>
              <a:rPr lang="en-GB" sz="1500" b="1" dirty="0">
                <a:latin typeface="Arial" panose="020B0604020202020204" pitchFamily="34" charset="0"/>
                <a:cs typeface="Arial" panose="020B0604020202020204" pitchFamily="34" charset="0"/>
              </a:rPr>
              <a:t>/csn09112</a:t>
            </a:r>
            <a:endParaRPr lang="en-US" sz="15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A8D3B61-FAFE-4BF6-D0A8-2B83A88EB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2" descr="Logo">
            <a:extLst>
              <a:ext uri="{FF2B5EF4-FFF2-40B4-BE49-F238E27FC236}">
                <a16:creationId xmlns:a16="http://schemas.microsoft.com/office/drawing/2014/main" id="{64D66C4D-D25C-AE9D-C5AB-166B86D7C0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501173" cy="1478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A picture containing logo&#10;&#10;Description automatically generated">
            <a:extLst>
              <a:ext uri="{FF2B5EF4-FFF2-40B4-BE49-F238E27FC236}">
                <a16:creationId xmlns:a16="http://schemas.microsoft.com/office/drawing/2014/main" id="{26422BD5-DE44-1D5E-1A8D-4128562AB9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9153" y="2405408"/>
            <a:ext cx="2108334" cy="88094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0BBC588-9493-C7F7-2D58-87ABAA8D3B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8467" y="1374506"/>
            <a:ext cx="1522538" cy="73081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ECB7A78-BFDE-4D27-DA4E-E2FF345B3B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8467" y="4149249"/>
            <a:ext cx="1522538" cy="73081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986430F-A10A-F7DB-ED6F-2D28B83B7D75}"/>
              </a:ext>
            </a:extLst>
          </p:cNvPr>
          <p:cNvSpPr/>
          <p:nvPr/>
        </p:nvSpPr>
        <p:spPr>
          <a:xfrm>
            <a:off x="297476" y="2223640"/>
            <a:ext cx="7200011" cy="1762434"/>
          </a:xfrm>
          <a:prstGeom prst="rect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931384624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E3B58B-B7EC-5B54-C575-BBDBF6A74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2" descr="Logo">
            <a:extLst>
              <a:ext uri="{FF2B5EF4-FFF2-40B4-BE49-F238E27FC236}">
                <a16:creationId xmlns:a16="http://schemas.microsoft.com/office/drawing/2014/main" id="{EFAEA7FA-7D49-E035-3E61-2DA1363685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501173" cy="1478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Lab">
            <a:extLst>
              <a:ext uri="{FF2B5EF4-FFF2-40B4-BE49-F238E27FC236}">
                <a16:creationId xmlns:a16="http://schemas.microsoft.com/office/drawing/2014/main" id="{FA02D725-0CE2-21BB-7E16-1407E4D685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230" y="1478097"/>
            <a:ext cx="7820497" cy="4236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683618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2283D-371B-4F47-B3F8-95EF4D2AB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67675BA-60A3-5EFF-8745-509A5916A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2" descr="Logo">
            <a:extLst>
              <a:ext uri="{FF2B5EF4-FFF2-40B4-BE49-F238E27FC236}">
                <a16:creationId xmlns:a16="http://schemas.microsoft.com/office/drawing/2014/main" id="{4BF7F14C-0A25-5963-7DE9-8393A0A5DD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501173" cy="1478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Lab">
            <a:extLst>
              <a:ext uri="{FF2B5EF4-FFF2-40B4-BE49-F238E27FC236}">
                <a16:creationId xmlns:a16="http://schemas.microsoft.com/office/drawing/2014/main" id="{4297C42E-8DC2-B087-F4AD-781EB29C6D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173" y="1478097"/>
            <a:ext cx="6858000" cy="4066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158468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30BA0-681C-34D3-96B9-28D93A95E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93B92AC-49FC-984C-A39D-7D4C11066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2" descr="Logo">
            <a:extLst>
              <a:ext uri="{FF2B5EF4-FFF2-40B4-BE49-F238E27FC236}">
                <a16:creationId xmlns:a16="http://schemas.microsoft.com/office/drawing/2014/main" id="{0205C1DC-6AF8-44CE-9029-0E90DF83F2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501173" cy="1478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 close-up of a website&#10;&#10;AI-generated content may be incorrect.">
            <a:hlinkClick r:id="rId3"/>
            <a:extLst>
              <a:ext uri="{FF2B5EF4-FFF2-40B4-BE49-F238E27FC236}">
                <a16:creationId xmlns:a16="http://schemas.microsoft.com/office/drawing/2014/main" id="{B37572AA-56B7-2D96-92BD-AD1A05695C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28" y="1496144"/>
            <a:ext cx="6774583" cy="3971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181077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E3B58B-B7EC-5B54-C575-BBDBF6A74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2" descr="Logo">
            <a:extLst>
              <a:ext uri="{FF2B5EF4-FFF2-40B4-BE49-F238E27FC236}">
                <a16:creationId xmlns:a16="http://schemas.microsoft.com/office/drawing/2014/main" id="{EFAEA7FA-7D49-E035-3E61-2DA1363685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501173" cy="1478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diagram of a cloud architecture&#10;&#10;Description automatically generated">
            <a:hlinkClick r:id="rId3"/>
            <a:extLst>
              <a:ext uri="{FF2B5EF4-FFF2-40B4-BE49-F238E27FC236}">
                <a16:creationId xmlns:a16="http://schemas.microsoft.com/office/drawing/2014/main" id="{87F690FC-C8D4-1FA0-61B8-11F360DA98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827" y="1750291"/>
            <a:ext cx="7772400" cy="3964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434747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E3B58B-B7EC-5B54-C575-BBDBF6A74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2" descr="Logo">
            <a:extLst>
              <a:ext uri="{FF2B5EF4-FFF2-40B4-BE49-F238E27FC236}">
                <a16:creationId xmlns:a16="http://schemas.microsoft.com/office/drawing/2014/main" id="{EFAEA7FA-7D49-E035-3E61-2DA1363685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501173" cy="1478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654A868D070CE6939B4E300BCF675EA9_video_dashinit.mp4">
            <a:hlinkClick r:id="" action="ppaction://media"/>
            <a:extLst>
              <a:ext uri="{FF2B5EF4-FFF2-40B4-BE49-F238E27FC236}">
                <a16:creationId xmlns:a16="http://schemas.microsoft.com/office/drawing/2014/main" id="{89D4D472-C24E-DCAE-D508-A741AE87A40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79674" y="1582837"/>
            <a:ext cx="6817489" cy="3834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65256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437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57</Words>
  <Application>Microsoft Macintosh PowerPoint</Application>
  <PresentationFormat>On-screen Show (16:10)</PresentationFormat>
  <Paragraphs>5</Paragraphs>
  <Slides>8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Helvetica</vt:lpstr>
      <vt:lpstr>Slack-Lato</vt:lpstr>
      <vt:lpstr>Office Theme</vt:lpstr>
      <vt:lpstr>Introduction   Module Overview Timetable vSoC 2/AWS  Prof Bill Buchanan OBE, FRSE https://asecuritysite.com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Next Generation Crypto   Light-weight crypto. Quantum-robust crypto Tokenization. Zero-knowledge. Homomorphic Encryption.  zkSnarks, Range-proofs   Prof Bill Buchanan OBE http://asecuritysite.com/encryption </dc:title>
  <cp:lastModifiedBy>Buchanan, Bill</cp:lastModifiedBy>
  <cp:revision>26</cp:revision>
  <dcterms:modified xsi:type="dcterms:W3CDTF">2026-09-16T18:32:31Z</dcterms:modified>
</cp:coreProperties>
</file>