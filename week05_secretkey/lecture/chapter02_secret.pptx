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notesSlides/notesSlide5.xml" ContentType="application/vnd.openxmlformats-officedocument.presentationml.notesSlide+xml"/>
  <Override PartName="/ppt/tags/tag3.xml" ContentType="application/vnd.openxmlformats-officedocument.presentationml.tags+xml"/>
  <Override PartName="/ppt/notesSlides/notesSlide6.xml" ContentType="application/vnd.openxmlformats-officedocument.presentationml.notesSlide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tags/tag5.xml" ContentType="application/vnd.openxmlformats-officedocument.presentationml.tag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tags/tag6.xml" ContentType="application/vnd.openxmlformats-officedocument.presentationml.tags+xml"/>
  <Override PartName="/ppt/notesSlides/notesSlide24.xml" ContentType="application/vnd.openxmlformats-officedocument.presentationml.notesSlide+xml"/>
  <Override PartName="/ppt/tags/tag7.xml" ContentType="application/vnd.openxmlformats-officedocument.presentationml.tags+xml"/>
  <Override PartName="/ppt/notesSlides/notesSlide25.xml" ContentType="application/vnd.openxmlformats-officedocument.presentationml.notesSlide+xml"/>
  <Override PartName="/ppt/tags/tag8.xml" ContentType="application/vnd.openxmlformats-officedocument.presentationml.tags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636" r:id="rId2"/>
    <p:sldId id="665" r:id="rId3"/>
    <p:sldId id="654" r:id="rId4"/>
    <p:sldId id="652" r:id="rId5"/>
    <p:sldId id="523" r:id="rId6"/>
    <p:sldId id="524" r:id="rId7"/>
    <p:sldId id="538" r:id="rId8"/>
    <p:sldId id="659" r:id="rId9"/>
    <p:sldId id="660" r:id="rId10"/>
    <p:sldId id="661" r:id="rId11"/>
    <p:sldId id="662" r:id="rId12"/>
    <p:sldId id="663" r:id="rId13"/>
    <p:sldId id="664" r:id="rId14"/>
    <p:sldId id="653" r:id="rId15"/>
    <p:sldId id="337" r:id="rId16"/>
    <p:sldId id="369" r:id="rId17"/>
    <p:sldId id="273" r:id="rId18"/>
    <p:sldId id="359" r:id="rId19"/>
    <p:sldId id="276" r:id="rId20"/>
    <p:sldId id="277" r:id="rId21"/>
    <p:sldId id="288" r:id="rId22"/>
    <p:sldId id="347" r:id="rId23"/>
    <p:sldId id="368" r:id="rId24"/>
    <p:sldId id="342" r:id="rId25"/>
    <p:sldId id="361" r:id="rId26"/>
    <p:sldId id="363" r:id="rId27"/>
    <p:sldId id="362" r:id="rId28"/>
    <p:sldId id="360" r:id="rId29"/>
    <p:sldId id="656" r:id="rId30"/>
    <p:sldId id="549" r:id="rId31"/>
    <p:sldId id="550" r:id="rId32"/>
    <p:sldId id="551" r:id="rId33"/>
    <p:sldId id="672" r:id="rId34"/>
    <p:sldId id="658" r:id="rId35"/>
    <p:sldId id="670" r:id="rId36"/>
    <p:sldId id="671" r:id="rId37"/>
  </p:sldIdLst>
  <p:sldSz cx="9144000" cy="5715000" type="screen16x10"/>
  <p:notesSz cx="6858000" cy="9144000"/>
  <p:custDataLst>
    <p:tags r:id="rId40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180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665" autoAdjust="0"/>
    <p:restoredTop sz="94315" autoAdjust="0"/>
  </p:normalViewPr>
  <p:slideViewPr>
    <p:cSldViewPr>
      <p:cViewPr varScale="1">
        <p:scale>
          <a:sx n="144" d="100"/>
          <a:sy n="144" d="100"/>
        </p:scale>
        <p:origin x="1096" y="176"/>
      </p:cViewPr>
      <p:guideLst>
        <p:guide orient="horz" pos="1800"/>
        <p:guide pos="2880"/>
      </p:guideLst>
    </p:cSldViewPr>
  </p:slideViewPr>
  <p:outlineViewPr>
    <p:cViewPr>
      <p:scale>
        <a:sx n="33" d="100"/>
        <a:sy n="33" d="100"/>
      </p:scale>
      <p:origin x="0" y="2385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4518"/>
    </p:cViewPr>
  </p:sorterViewPr>
  <p:notesViewPr>
    <p:cSldViewPr>
      <p:cViewPr varScale="1">
        <p:scale>
          <a:sx n="57" d="100"/>
          <a:sy n="57" d="100"/>
        </p:scale>
        <p:origin x="-1458" y="-9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1874AF8-8C71-B20D-6D26-3B2667C9EB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D7E74-8804-5F27-A1D9-B4DE0E9BD5CD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CF5AB0A5-65E1-4244-9413-3E90322B999D}" type="datetimeFigureOut">
              <a:rPr lang="en-US" altLang="en-US"/>
              <a:pPr>
                <a:defRPr/>
              </a:pPr>
              <a:t>10/8/26</a:t>
            </a:fld>
            <a:endParaRPr lang="en-US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9052CB-5BE0-F444-E8B2-669662F2055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2CB8FB-C3A8-2F04-430A-A15574F637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pPr>
              <a:defRPr/>
            </a:pPr>
            <a:fld id="{E1B05C62-5B62-B649-A017-1C1F3962BF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2B0A57D-FB40-9B5C-E7C4-21B2A63BBA8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27E2078-C533-AB56-8281-090A7342C7E9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ADC8D021-2D94-D84F-BE33-7D13236C3E01}" type="datetimeFigureOut">
              <a:rPr lang="en-GB" altLang="en-US"/>
              <a:pPr>
                <a:defRPr/>
              </a:pPr>
              <a:t>08/10/2026</a:t>
            </a:fld>
            <a:endParaRPr lang="en-GB" alt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6633DFF-9F9C-5F97-D865-0F3A91DA4F9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685800"/>
            <a:ext cx="54864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GB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63629F0E-D801-04BD-68DE-6223D46E7A6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GB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17901D-FC63-C261-FA71-1723627B704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EC1373E-F7E7-56B0-B64F-D80752B66C4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5D115ED-6CB9-E24F-9593-D6AAEB136CA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Slide Image Placeholder 1">
            <a:extLst>
              <a:ext uri="{FF2B5EF4-FFF2-40B4-BE49-F238E27FC236}">
                <a16:creationId xmlns:a16="http://schemas.microsoft.com/office/drawing/2014/main" id="{22C7974D-4FFF-2C46-CB90-7872D9F798D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7410" name="Notes Placeholder 2">
            <a:extLst>
              <a:ext uri="{FF2B5EF4-FFF2-40B4-BE49-F238E27FC236}">
                <a16:creationId xmlns:a16="http://schemas.microsoft.com/office/drawing/2014/main" id="{96FD47A4-99BD-672B-1DD0-52D8FBB7B91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7411" name="Slide Number Placeholder 3">
            <a:extLst>
              <a:ext uri="{FF2B5EF4-FFF2-40B4-BE49-F238E27FC236}">
                <a16:creationId xmlns:a16="http://schemas.microsoft.com/office/drawing/2014/main" id="{0130B0A2-F5C4-58A3-EEEE-F7E594FF06D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1ABFD1D7-04E5-074C-84F4-1300C95B519F}" type="slidenum">
              <a:rPr lang="en-GB" altLang="en-US" smtClean="0"/>
              <a:pPr/>
              <a:t>1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Slide Image Placeholder 1">
            <a:extLst>
              <a:ext uri="{FF2B5EF4-FFF2-40B4-BE49-F238E27FC236}">
                <a16:creationId xmlns:a16="http://schemas.microsoft.com/office/drawing/2014/main" id="{1688BCD3-68C9-59F8-7B88-144FD257DD4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8" name="Notes Placeholder 2">
            <a:extLst>
              <a:ext uri="{FF2B5EF4-FFF2-40B4-BE49-F238E27FC236}">
                <a16:creationId xmlns:a16="http://schemas.microsoft.com/office/drawing/2014/main" id="{3218ABC1-9162-DBF9-8030-3502B2A3DC8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19459" name="Slide Number Placeholder 3">
            <a:extLst>
              <a:ext uri="{FF2B5EF4-FFF2-40B4-BE49-F238E27FC236}">
                <a16:creationId xmlns:a16="http://schemas.microsoft.com/office/drawing/2014/main" id="{6E9C23E6-81E3-4D3C-0C78-C73DE2B041B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7C03365C-A3EC-9E4C-9E84-C31E2AFA9458}" type="slidenum">
              <a:rPr lang="en-GB" altLang="en-US" smtClean="0"/>
              <a:pPr/>
              <a:t>2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Slide Image Placeholder 1">
            <a:extLst>
              <a:ext uri="{FF2B5EF4-FFF2-40B4-BE49-F238E27FC236}">
                <a16:creationId xmlns:a16="http://schemas.microsoft.com/office/drawing/2014/main" id="{EFC31110-7773-7B6B-569E-CA8FBC3001C4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1506" name="Notes Placeholder 2">
            <a:extLst>
              <a:ext uri="{FF2B5EF4-FFF2-40B4-BE49-F238E27FC236}">
                <a16:creationId xmlns:a16="http://schemas.microsoft.com/office/drawing/2014/main" id="{67984470-C6C9-B394-F1E0-D36DE937E7A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1507" name="Slide Number Placeholder 3">
            <a:extLst>
              <a:ext uri="{FF2B5EF4-FFF2-40B4-BE49-F238E27FC236}">
                <a16:creationId xmlns:a16="http://schemas.microsoft.com/office/drawing/2014/main" id="{FEAD14EE-F907-4986-DCEA-2A167D0C55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F05F1065-2BC4-C147-821E-7BB71EB0AD3F}" type="slidenum">
              <a:rPr lang="en-GB" altLang="en-US" smtClean="0"/>
              <a:pPr/>
              <a:t>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Slide Image Placeholder 1">
            <a:extLst>
              <a:ext uri="{FF2B5EF4-FFF2-40B4-BE49-F238E27FC236}">
                <a16:creationId xmlns:a16="http://schemas.microsoft.com/office/drawing/2014/main" id="{E8AC5433-E5B6-F27E-3A80-188DFD4518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4" name="Notes Placeholder 2">
            <a:extLst>
              <a:ext uri="{FF2B5EF4-FFF2-40B4-BE49-F238E27FC236}">
                <a16:creationId xmlns:a16="http://schemas.microsoft.com/office/drawing/2014/main" id="{4A3C6886-C41A-CB09-DEDB-D8818B4CC6C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3555" name="Slide Number Placeholder 3">
            <a:extLst>
              <a:ext uri="{FF2B5EF4-FFF2-40B4-BE49-F238E27FC236}">
                <a16:creationId xmlns:a16="http://schemas.microsoft.com/office/drawing/2014/main" id="{CD058975-5A76-8D86-3A07-131F653B94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C3F970AD-E57C-D54B-B872-875926C0150C}" type="slidenum">
              <a:rPr lang="en-GB" altLang="en-US" smtClean="0"/>
              <a:pPr/>
              <a:t>4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Slide Image Placeholder 1">
            <a:extLst>
              <a:ext uri="{FF2B5EF4-FFF2-40B4-BE49-F238E27FC236}">
                <a16:creationId xmlns:a16="http://schemas.microsoft.com/office/drawing/2014/main" id="{3F23ED67-BDF3-8285-515B-15CF941BEB57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2" name="Notes Placeholder 2">
            <a:extLst>
              <a:ext uri="{FF2B5EF4-FFF2-40B4-BE49-F238E27FC236}">
                <a16:creationId xmlns:a16="http://schemas.microsoft.com/office/drawing/2014/main" id="{25259F49-E77A-DD18-697D-780F9F77FFB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5603" name="Slide Number Placeholder 3">
            <a:extLst>
              <a:ext uri="{FF2B5EF4-FFF2-40B4-BE49-F238E27FC236}">
                <a16:creationId xmlns:a16="http://schemas.microsoft.com/office/drawing/2014/main" id="{3F2F1913-1C5B-C09D-3BAF-8C925A9A3E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AB3201C7-8018-D942-B9FA-197C67BFAF8F}" type="slidenum">
              <a:rPr lang="en-GB" altLang="en-US" smtClean="0"/>
              <a:pPr/>
              <a:t>5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Slide Image Placeholder 1">
            <a:extLst>
              <a:ext uri="{FF2B5EF4-FFF2-40B4-BE49-F238E27FC236}">
                <a16:creationId xmlns:a16="http://schemas.microsoft.com/office/drawing/2014/main" id="{94900D7A-4C0A-72A7-F3A4-9FA1BC7B159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7650" name="Notes Placeholder 2">
            <a:extLst>
              <a:ext uri="{FF2B5EF4-FFF2-40B4-BE49-F238E27FC236}">
                <a16:creationId xmlns:a16="http://schemas.microsoft.com/office/drawing/2014/main" id="{D17214A3-543D-656B-1856-981D4835F78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7651" name="Slide Number Placeholder 3">
            <a:extLst>
              <a:ext uri="{FF2B5EF4-FFF2-40B4-BE49-F238E27FC236}">
                <a16:creationId xmlns:a16="http://schemas.microsoft.com/office/drawing/2014/main" id="{F218569B-BE47-33D0-E4D7-65D7C2373A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B15EED61-0CA6-9944-967F-59A81ED91E03}" type="slidenum">
              <a:rPr lang="en-GB" altLang="en-US" smtClean="0"/>
              <a:pPr/>
              <a:t>6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Slide Image Placeholder 1">
            <a:extLst>
              <a:ext uri="{FF2B5EF4-FFF2-40B4-BE49-F238E27FC236}">
                <a16:creationId xmlns:a16="http://schemas.microsoft.com/office/drawing/2014/main" id="{59C332D3-2715-28C5-BF65-C2711FA6E4E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8" name="Notes Placeholder 2">
            <a:extLst>
              <a:ext uri="{FF2B5EF4-FFF2-40B4-BE49-F238E27FC236}">
                <a16:creationId xmlns:a16="http://schemas.microsoft.com/office/drawing/2014/main" id="{DE0B5017-350E-8FE7-DFDB-3D07F0193D8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29699" name="Slide Number Placeholder 3">
            <a:extLst>
              <a:ext uri="{FF2B5EF4-FFF2-40B4-BE49-F238E27FC236}">
                <a16:creationId xmlns:a16="http://schemas.microsoft.com/office/drawing/2014/main" id="{61F4960B-3CEA-41CB-6776-F8CC185A274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A5055B90-5186-A342-B69F-E926E3CEBCF7}" type="slidenum">
              <a:rPr lang="en-GB" altLang="en-US" smtClean="0"/>
              <a:pPr/>
              <a:t>7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Slide Image Placeholder 1">
            <a:extLst>
              <a:ext uri="{FF2B5EF4-FFF2-40B4-BE49-F238E27FC236}">
                <a16:creationId xmlns:a16="http://schemas.microsoft.com/office/drawing/2014/main" id="{153669EF-57AB-7DD3-8B34-521B2770CD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6" name="Notes Placeholder 2">
            <a:extLst>
              <a:ext uri="{FF2B5EF4-FFF2-40B4-BE49-F238E27FC236}">
                <a16:creationId xmlns:a16="http://schemas.microsoft.com/office/drawing/2014/main" id="{9F52D5C1-F7C1-936C-B6A6-D6ADBF466DC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1747" name="Slide Number Placeholder 3">
            <a:extLst>
              <a:ext uri="{FF2B5EF4-FFF2-40B4-BE49-F238E27FC236}">
                <a16:creationId xmlns:a16="http://schemas.microsoft.com/office/drawing/2014/main" id="{4B0ED412-E3DC-FB75-DD3F-1BACAB55D45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72D0D45F-F653-C344-BFA6-A67EBE24F8CE}" type="slidenum">
              <a:rPr lang="en-GB" altLang="en-US" smtClean="0"/>
              <a:pPr/>
              <a:t>8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Slide Image Placeholder 1">
            <a:extLst>
              <a:ext uri="{FF2B5EF4-FFF2-40B4-BE49-F238E27FC236}">
                <a16:creationId xmlns:a16="http://schemas.microsoft.com/office/drawing/2014/main" id="{A11DCC74-725E-A1AA-30FE-9B301C7010E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4" name="Notes Placeholder 2">
            <a:extLst>
              <a:ext uri="{FF2B5EF4-FFF2-40B4-BE49-F238E27FC236}">
                <a16:creationId xmlns:a16="http://schemas.microsoft.com/office/drawing/2014/main" id="{224197F4-15FC-F506-DFB9-39DE5F4D864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3795" name="Slide Number Placeholder 3">
            <a:extLst>
              <a:ext uri="{FF2B5EF4-FFF2-40B4-BE49-F238E27FC236}">
                <a16:creationId xmlns:a16="http://schemas.microsoft.com/office/drawing/2014/main" id="{2A9223EE-AEAC-5BD3-ECF2-C113F729DE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75AEEC3D-2345-F245-B184-952D2FEC2EA2}" type="slidenum">
              <a:rPr lang="en-GB" altLang="en-US" smtClean="0"/>
              <a:pPr/>
              <a:t>9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Slide Image Placeholder 1">
            <a:extLst>
              <a:ext uri="{FF2B5EF4-FFF2-40B4-BE49-F238E27FC236}">
                <a16:creationId xmlns:a16="http://schemas.microsoft.com/office/drawing/2014/main" id="{1F15CDC3-CADD-B0B9-9092-890E4213F35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2" name="Notes Placeholder 2">
            <a:extLst>
              <a:ext uri="{FF2B5EF4-FFF2-40B4-BE49-F238E27FC236}">
                <a16:creationId xmlns:a16="http://schemas.microsoft.com/office/drawing/2014/main" id="{8974000D-43AD-A822-6EEA-EC8DB47D0CB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5843" name="Slide Number Placeholder 3">
            <a:extLst>
              <a:ext uri="{FF2B5EF4-FFF2-40B4-BE49-F238E27FC236}">
                <a16:creationId xmlns:a16="http://schemas.microsoft.com/office/drawing/2014/main" id="{43C6B666-23E3-969A-E82C-A5FF5EA6244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109A6EDF-F830-D94E-B3DB-C3626AF56078}" type="slidenum">
              <a:rPr lang="en-GB" altLang="en-US" smtClean="0"/>
              <a:pPr/>
              <a:t>10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Slide Image Placeholder 1">
            <a:extLst>
              <a:ext uri="{FF2B5EF4-FFF2-40B4-BE49-F238E27FC236}">
                <a16:creationId xmlns:a16="http://schemas.microsoft.com/office/drawing/2014/main" id="{A294DA9E-B8B3-1073-7C1C-AE852F0F0E6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0" name="Notes Placeholder 2">
            <a:extLst>
              <a:ext uri="{FF2B5EF4-FFF2-40B4-BE49-F238E27FC236}">
                <a16:creationId xmlns:a16="http://schemas.microsoft.com/office/drawing/2014/main" id="{A521C809-F495-CDDB-9188-8B15EC29176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7891" name="Slide Number Placeholder 3">
            <a:extLst>
              <a:ext uri="{FF2B5EF4-FFF2-40B4-BE49-F238E27FC236}">
                <a16:creationId xmlns:a16="http://schemas.microsoft.com/office/drawing/2014/main" id="{B1D78208-5BFE-7AB7-D5D5-4185479538D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1110CEFE-C2F0-4C4C-B9EF-5F9667033107}" type="slidenum">
              <a:rPr lang="en-GB" altLang="en-US" smtClean="0"/>
              <a:pPr/>
              <a:t>11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Slide Image Placeholder 1">
            <a:extLst>
              <a:ext uri="{FF2B5EF4-FFF2-40B4-BE49-F238E27FC236}">
                <a16:creationId xmlns:a16="http://schemas.microsoft.com/office/drawing/2014/main" id="{77526A89-3772-DD74-31CE-BC8A6329692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8" name="Notes Placeholder 2">
            <a:extLst>
              <a:ext uri="{FF2B5EF4-FFF2-40B4-BE49-F238E27FC236}">
                <a16:creationId xmlns:a16="http://schemas.microsoft.com/office/drawing/2014/main" id="{5FEF1070-39CA-301C-0D34-3719D8B455B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39939" name="Slide Number Placeholder 3">
            <a:extLst>
              <a:ext uri="{FF2B5EF4-FFF2-40B4-BE49-F238E27FC236}">
                <a16:creationId xmlns:a16="http://schemas.microsoft.com/office/drawing/2014/main" id="{0B78B908-DCAB-B9FA-5C91-9E6996C3AC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7B8C9BD1-1038-C34B-9CCB-BC3E7F51D47C}" type="slidenum">
              <a:rPr lang="en-GB" altLang="en-US" smtClean="0"/>
              <a:pPr/>
              <a:t>12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Slide Image Placeholder 1">
            <a:extLst>
              <a:ext uri="{FF2B5EF4-FFF2-40B4-BE49-F238E27FC236}">
                <a16:creationId xmlns:a16="http://schemas.microsoft.com/office/drawing/2014/main" id="{72DC0717-AE5F-C302-0362-6369F0AB86FF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986" name="Notes Placeholder 2">
            <a:extLst>
              <a:ext uri="{FF2B5EF4-FFF2-40B4-BE49-F238E27FC236}">
                <a16:creationId xmlns:a16="http://schemas.microsoft.com/office/drawing/2014/main" id="{BDAFE5D5-2ADF-4F2D-ABE9-E950A296EAA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1987" name="Slide Number Placeholder 3">
            <a:extLst>
              <a:ext uri="{FF2B5EF4-FFF2-40B4-BE49-F238E27FC236}">
                <a16:creationId xmlns:a16="http://schemas.microsoft.com/office/drawing/2014/main" id="{FC8551BA-92AD-5D98-D6F0-4587BB91CB7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24D45EA8-C431-7B4E-A4E3-E582B1068E24}" type="slidenum">
              <a:rPr lang="en-GB" altLang="en-US" smtClean="0"/>
              <a:pPr/>
              <a:t>13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Slide Image Placeholder 1">
            <a:extLst>
              <a:ext uri="{FF2B5EF4-FFF2-40B4-BE49-F238E27FC236}">
                <a16:creationId xmlns:a16="http://schemas.microsoft.com/office/drawing/2014/main" id="{1EAA0860-8B35-F6D7-108A-FBCBCE2D0BD8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4034" name="Notes Placeholder 2">
            <a:extLst>
              <a:ext uri="{FF2B5EF4-FFF2-40B4-BE49-F238E27FC236}">
                <a16:creationId xmlns:a16="http://schemas.microsoft.com/office/drawing/2014/main" id="{AA53BE4B-5699-CA6F-678B-9F5296EE7F8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44035" name="Slide Number Placeholder 3">
            <a:extLst>
              <a:ext uri="{FF2B5EF4-FFF2-40B4-BE49-F238E27FC236}">
                <a16:creationId xmlns:a16="http://schemas.microsoft.com/office/drawing/2014/main" id="{2B5A3F21-2EAA-3EF5-6E0B-7CC6C2EE07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062B994E-7DBD-4848-9CAD-11C62CAD56FB}" type="slidenum">
              <a:rPr lang="en-GB" altLang="en-US" smtClean="0"/>
              <a:pPr/>
              <a:t>14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5715650-339F-4D41-A45D-A3F9B0A5A804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34777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5715650-339F-4D41-A45D-A3F9B0A5A804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800008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966654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5715650-339F-4D41-A45D-A3F9B0A5A804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826319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5715650-339F-4D41-A45D-A3F9B0A5A804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280654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5715650-339F-4D41-A45D-A3F9B0A5A804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04894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5715650-339F-4D41-A45D-A3F9B0A5A804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432545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/>
          <a:lstStyle/>
          <a:p>
            <a:fld id="{A5715650-339F-4D41-A45D-A3F9B0A5A804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88551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Slide Image Placeholder 1">
            <a:extLst>
              <a:ext uri="{FF2B5EF4-FFF2-40B4-BE49-F238E27FC236}">
                <a16:creationId xmlns:a16="http://schemas.microsoft.com/office/drawing/2014/main" id="{180B68C8-EE12-0063-DE1F-E30154AFEB1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4514" name="Notes Placeholder 2">
            <a:extLst>
              <a:ext uri="{FF2B5EF4-FFF2-40B4-BE49-F238E27FC236}">
                <a16:creationId xmlns:a16="http://schemas.microsoft.com/office/drawing/2014/main" id="{464A9E59-4F9C-1162-0B84-7B2B3F0ACD9B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4515" name="Slide Number Placeholder 3">
            <a:extLst>
              <a:ext uri="{FF2B5EF4-FFF2-40B4-BE49-F238E27FC236}">
                <a16:creationId xmlns:a16="http://schemas.microsoft.com/office/drawing/2014/main" id="{ECA6EED5-D05B-AC41-1262-5B02823068B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CA6433CF-B697-7B4A-BF47-B03F4BADFDFA}" type="slidenum">
              <a:rPr lang="en-GB" altLang="en-US" smtClean="0"/>
              <a:pPr/>
              <a:t>29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Slide Image Placeholder 1">
            <a:extLst>
              <a:ext uri="{FF2B5EF4-FFF2-40B4-BE49-F238E27FC236}">
                <a16:creationId xmlns:a16="http://schemas.microsoft.com/office/drawing/2014/main" id="{F96717BF-FE27-C98F-579F-B059E17C2F8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6562" name="Notes Placeholder 2">
            <a:extLst>
              <a:ext uri="{FF2B5EF4-FFF2-40B4-BE49-F238E27FC236}">
                <a16:creationId xmlns:a16="http://schemas.microsoft.com/office/drawing/2014/main" id="{A758322B-9D57-9CC5-D67F-198466556AC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6563" name="Slide Number Placeholder 3">
            <a:extLst>
              <a:ext uri="{FF2B5EF4-FFF2-40B4-BE49-F238E27FC236}">
                <a16:creationId xmlns:a16="http://schemas.microsoft.com/office/drawing/2014/main" id="{F6C48DFB-8AA1-5BD1-E209-9ACE3C3B75E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17C889E5-B15C-D443-AF12-945B280EDF2C}" type="slidenum">
              <a:rPr lang="en-GB" altLang="en-US" smtClean="0"/>
              <a:pPr/>
              <a:t>30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Slide Image Placeholder 1">
            <a:extLst>
              <a:ext uri="{FF2B5EF4-FFF2-40B4-BE49-F238E27FC236}">
                <a16:creationId xmlns:a16="http://schemas.microsoft.com/office/drawing/2014/main" id="{36261B06-DD6C-8BAA-528E-0A9E472C54F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8610" name="Notes Placeholder 2">
            <a:extLst>
              <a:ext uri="{FF2B5EF4-FFF2-40B4-BE49-F238E27FC236}">
                <a16:creationId xmlns:a16="http://schemas.microsoft.com/office/drawing/2014/main" id="{33E71AB1-807B-0584-143F-1C93F573B59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68611" name="Slide Number Placeholder 3">
            <a:extLst>
              <a:ext uri="{FF2B5EF4-FFF2-40B4-BE49-F238E27FC236}">
                <a16:creationId xmlns:a16="http://schemas.microsoft.com/office/drawing/2014/main" id="{B64A4424-5024-F183-C3BB-56C9B859D16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16F048DB-231B-994A-93B7-9801861F9E18}" type="slidenum">
              <a:rPr lang="en-GB" altLang="en-US" smtClean="0"/>
              <a:pPr/>
              <a:t>31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Slide Image Placeholder 1">
            <a:extLst>
              <a:ext uri="{FF2B5EF4-FFF2-40B4-BE49-F238E27FC236}">
                <a16:creationId xmlns:a16="http://schemas.microsoft.com/office/drawing/2014/main" id="{FB7CB7B0-0586-34EC-8FDE-B7E658679FD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0658" name="Notes Placeholder 2">
            <a:extLst>
              <a:ext uri="{FF2B5EF4-FFF2-40B4-BE49-F238E27FC236}">
                <a16:creationId xmlns:a16="http://schemas.microsoft.com/office/drawing/2014/main" id="{AF919320-EDCD-3946-7CD9-A33E1EEE5CE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70659" name="Slide Number Placeholder 3">
            <a:extLst>
              <a:ext uri="{FF2B5EF4-FFF2-40B4-BE49-F238E27FC236}">
                <a16:creationId xmlns:a16="http://schemas.microsoft.com/office/drawing/2014/main" id="{277C265C-8E8C-9E15-B56E-DA0A5175A9E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2DAFF166-A9A8-104E-AFFB-D61DD4E2FE6B}" type="slidenum">
              <a:rPr lang="en-GB" altLang="en-US" smtClean="0"/>
              <a:pPr/>
              <a:t>32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Slide Image Placeholder 1">
            <a:extLst>
              <a:ext uri="{FF2B5EF4-FFF2-40B4-BE49-F238E27FC236}">
                <a16:creationId xmlns:a16="http://schemas.microsoft.com/office/drawing/2014/main" id="{94A6BBB9-DD63-80B6-D4A4-0F0992F4929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2706" name="Notes Placeholder 2">
            <a:extLst>
              <a:ext uri="{FF2B5EF4-FFF2-40B4-BE49-F238E27FC236}">
                <a16:creationId xmlns:a16="http://schemas.microsoft.com/office/drawing/2014/main" id="{A2F6D259-7050-17E3-283D-3988607A94D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72707" name="Slide Number Placeholder 3">
            <a:extLst>
              <a:ext uri="{FF2B5EF4-FFF2-40B4-BE49-F238E27FC236}">
                <a16:creationId xmlns:a16="http://schemas.microsoft.com/office/drawing/2014/main" id="{F0ECB596-47A6-BFAD-363A-6FE47677980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05EF247C-298B-6E4B-B40E-750AD6C2F9B7}" type="slidenum">
              <a:rPr lang="en-GB" altLang="en-US" smtClean="0"/>
              <a:pPr/>
              <a:t>33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Slide Image Placeholder 1">
            <a:extLst>
              <a:ext uri="{FF2B5EF4-FFF2-40B4-BE49-F238E27FC236}">
                <a16:creationId xmlns:a16="http://schemas.microsoft.com/office/drawing/2014/main" id="{EDD7CF2F-2FD5-AD30-7D99-6008910F977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4754" name="Notes Placeholder 2">
            <a:extLst>
              <a:ext uri="{FF2B5EF4-FFF2-40B4-BE49-F238E27FC236}">
                <a16:creationId xmlns:a16="http://schemas.microsoft.com/office/drawing/2014/main" id="{CB97D292-DABF-F4B7-6C54-6F5082D7B9C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74755" name="Slide Number Placeholder 3">
            <a:extLst>
              <a:ext uri="{FF2B5EF4-FFF2-40B4-BE49-F238E27FC236}">
                <a16:creationId xmlns:a16="http://schemas.microsoft.com/office/drawing/2014/main" id="{353525BD-5DC2-6DD3-3C6A-08C94BFBE5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85E0ADC2-BC67-3C48-AACF-9A657152F835}" type="slidenum">
              <a:rPr lang="en-GB" altLang="en-US" smtClean="0"/>
              <a:pPr/>
              <a:t>34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Slide Image Placeholder 1">
            <a:extLst>
              <a:ext uri="{FF2B5EF4-FFF2-40B4-BE49-F238E27FC236}">
                <a16:creationId xmlns:a16="http://schemas.microsoft.com/office/drawing/2014/main" id="{8D76015F-1BC3-E13E-FF3A-7A63BDE6E82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2" name="Notes Placeholder 2">
            <a:extLst>
              <a:ext uri="{FF2B5EF4-FFF2-40B4-BE49-F238E27FC236}">
                <a16:creationId xmlns:a16="http://schemas.microsoft.com/office/drawing/2014/main" id="{2E55706D-7A48-DE8D-99D8-93275B4D95EC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76803" name="Slide Number Placeholder 3">
            <a:extLst>
              <a:ext uri="{FF2B5EF4-FFF2-40B4-BE49-F238E27FC236}">
                <a16:creationId xmlns:a16="http://schemas.microsoft.com/office/drawing/2014/main" id="{E87980AD-7C3F-7E33-7859-7A3CDD554C5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B42A5479-6206-4143-AB16-80E1AF14B953}" type="slidenum">
              <a:rPr lang="en-GB" altLang="en-US" smtClean="0"/>
              <a:pPr/>
              <a:t>35</a:t>
            </a:fld>
            <a:endParaRPr lang="en-GB" altLang="en-US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Slide Image Placeholder 1">
            <a:extLst>
              <a:ext uri="{FF2B5EF4-FFF2-40B4-BE49-F238E27FC236}">
                <a16:creationId xmlns:a16="http://schemas.microsoft.com/office/drawing/2014/main" id="{CF587E3D-8463-5CEC-184C-33875398AEDD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8850" name="Notes Placeholder 2">
            <a:extLst>
              <a:ext uri="{FF2B5EF4-FFF2-40B4-BE49-F238E27FC236}">
                <a16:creationId xmlns:a16="http://schemas.microsoft.com/office/drawing/2014/main" id="{C5D5A307-9374-B9CB-4CE3-72E30CB8F4F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  <p:sp>
        <p:nvSpPr>
          <p:cNvPr id="78851" name="Slide Number Placeholder 3">
            <a:extLst>
              <a:ext uri="{FF2B5EF4-FFF2-40B4-BE49-F238E27FC236}">
                <a16:creationId xmlns:a16="http://schemas.microsoft.com/office/drawing/2014/main" id="{3FAE34D8-DA46-CD55-F33D-10611A60FD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pitchFamily="34" charset="0"/>
                <a:cs typeface="Arial" panose="020B0604020202020204" pitchFamily="34" charset="0"/>
              </a:defRPr>
            </a:lvl9pPr>
          </a:lstStyle>
          <a:p>
            <a:fld id="{3F1C3A1A-AE12-7F4F-8570-AB8E7F754E91}" type="slidenum">
              <a:rPr lang="en-GB" altLang="en-US" smtClean="0"/>
              <a:pPr/>
              <a:t>36</a:t>
            </a:fld>
            <a:endParaRPr lang="en-GB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75355"/>
            <a:ext cx="7772400" cy="12250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238500"/>
            <a:ext cx="6400800" cy="14605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1F956B-CD82-7289-9311-A63B188F33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CCAB1-9177-0C42-A998-6495F5E202B6}" type="datetimeFigureOut">
              <a:rPr lang="en-GB" altLang="en-US"/>
              <a:pPr>
                <a:defRPr/>
              </a:pPr>
              <a:t>08/10/2026</a:t>
            </a:fld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DCB27E-9423-FF94-7F51-9DA9D79308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ED4979-8333-4E89-CFC3-DA83B44381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456DE3-0B9A-4847-B52C-DB3117BDC6C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93047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9C7DD-A3CA-0A4F-7B09-8F86AEC8A4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7873D4-F09B-5B43-AD41-B8B19469CFD4}" type="datetimeFigureOut">
              <a:rPr lang="en-GB" altLang="en-US"/>
              <a:pPr>
                <a:defRPr/>
              </a:pPr>
              <a:t>08/10/2026</a:t>
            </a:fld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D35FA0-DCF1-097B-A812-A4D6053049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A1E41C-A6B3-E4C2-09C9-AD1FEA12AA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19149E-2701-9049-B827-497C9980A0A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210240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672418"/>
            <a:ext cx="7772400" cy="1135062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422261"/>
            <a:ext cx="7772400" cy="1250156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9AC056-33C4-4476-010F-7A183C8AA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6B8776-6D7D-3949-A48F-80A8CCEAB207}" type="datetimeFigureOut">
              <a:rPr lang="en-GB" altLang="en-US"/>
              <a:pPr>
                <a:defRPr/>
              </a:pPr>
              <a:t>08/10/2026</a:t>
            </a:fld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589D0-AB17-D6D5-D4E3-916142D97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EE8B2F-5541-26F4-E3E4-02410CA4F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F177C13-949E-7043-8A49-C4A9EC7B4FC9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605094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333501"/>
            <a:ext cx="4038600" cy="377163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60EBFEB-AB20-19A0-B0A8-A72424E2FE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77D5D37-443F-9E42-B92C-88F241D20E04}" type="datetimeFigureOut">
              <a:rPr lang="en-GB" altLang="en-US"/>
              <a:pPr>
                <a:defRPr/>
              </a:pPr>
              <a:t>08/10/2026</a:t>
            </a:fld>
            <a:endParaRPr lang="en-GB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DF2C4A7B-71C7-86F9-AEBA-21B1591D8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312FE61-B8EF-A5CB-3799-1B8ABD8ED0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6A759BD-6E38-0B45-9C19-ECC3BD96562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059032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79261"/>
            <a:ext cx="4040188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812396"/>
            <a:ext cx="4040188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7" y="1279261"/>
            <a:ext cx="4041775" cy="53313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7" y="1812396"/>
            <a:ext cx="4041775" cy="329274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364AE498-5CAB-F8AA-8AC9-67E0371BD4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8BA224C-653F-8E4E-BBFB-92AC22B6645D}" type="datetimeFigureOut">
              <a:rPr lang="en-GB" altLang="en-US"/>
              <a:pPr>
                <a:defRPr/>
              </a:pPr>
              <a:t>08/10/2026</a:t>
            </a:fld>
            <a:endParaRPr lang="en-GB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F678D8C-FA1A-5ECC-46B9-7D90B34E9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65CF49E-2496-6F34-524F-90219FEE7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707F81-D5EE-944C-8848-75369790E07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9928883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F9CEB26D-0226-2AFE-800E-A1C0B353B2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8B3DD-66EA-FB4B-A720-0BDB0C3BFACE}" type="datetimeFigureOut">
              <a:rPr lang="en-GB" altLang="en-US"/>
              <a:pPr>
                <a:defRPr/>
              </a:pPr>
              <a:t>08/10/2026</a:t>
            </a:fld>
            <a:endParaRPr lang="en-GB" alt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D1EA1293-3494-98C2-A61D-288168C6D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D3F62ED-E832-6EBC-52C2-60BE51346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DC093E-CD91-D64E-89AB-77AB55575B2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04843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4F61122-9FF0-54C8-9734-922B4C82F5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F6E97B2-9D20-9044-9CDB-D63FDC212F2E}" type="datetimeFigureOut">
              <a:rPr lang="en-GB" altLang="en-US"/>
              <a:pPr>
                <a:defRPr/>
              </a:pPr>
              <a:t>08/10/2026</a:t>
            </a:fld>
            <a:endParaRPr lang="en-GB" alt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F046DBBA-0DAA-BDF2-02BF-501D6AD52B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044CFF8-3658-6C47-876B-3CF036E52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979E60D-7841-8849-8D36-3EB15DC4530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6694768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2" y="227541"/>
            <a:ext cx="3008313" cy="96837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27543"/>
            <a:ext cx="5111750" cy="487759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2" y="1195918"/>
            <a:ext cx="3008313" cy="39092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94C51D7-D10C-0BC7-3124-36BA350ACF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3AC8363-685B-EA4F-91B5-36EE34E2BCA7}" type="datetimeFigureOut">
              <a:rPr lang="en-GB" altLang="en-US"/>
              <a:pPr>
                <a:defRPr/>
              </a:pPr>
              <a:t>08/10/2026</a:t>
            </a:fld>
            <a:endParaRPr lang="en-GB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235EC91-AAB0-D5A7-6F8E-B1E78CEEA5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83BBB08-66F5-2AC8-DC42-51CC368C4B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96710B-661D-AF45-B828-4A15AD15D9D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659050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000500"/>
            <a:ext cx="5486400" cy="472282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510646"/>
            <a:ext cx="5486400" cy="34290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GB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472782"/>
            <a:ext cx="5486400" cy="67071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1C12DE3-B181-FF85-D9E3-8FD2A6915D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69D2787-A223-E54A-8352-FB27C94D61AA}" type="datetimeFigureOut">
              <a:rPr lang="en-GB" altLang="en-US"/>
              <a:pPr>
                <a:defRPr/>
              </a:pPr>
              <a:t>08/10/2026</a:t>
            </a:fld>
            <a:endParaRPr lang="en-GB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58707A4-731E-03E9-9835-AB0C9AE117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4DE5604-7AA5-6F38-BC02-A0F1A67ACB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852ACD2-9D31-444A-BBC1-C9C24C276C38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58185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787B2-75EA-2600-53C5-95ECF1F9FB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C07422F-CA32-C94B-BF70-0F41F4A8A1F5}" type="datetimeFigureOut">
              <a:rPr lang="en-GB" altLang="en-US"/>
              <a:pPr>
                <a:defRPr/>
              </a:pPr>
              <a:t>08/10/2026</a:t>
            </a:fld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F254EB-6366-D373-78A7-C25ADE478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2F4559-D1D9-DC38-07AC-B90D132D3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B53C91A-DDD1-E243-958B-769E388AE34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381532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28866"/>
            <a:ext cx="2057400" cy="487627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28866"/>
            <a:ext cx="6019800" cy="487627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9EBCB2-5764-25A8-CCE4-5B3B969E9F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91E37E-D8AE-D442-A637-DE84D776561C}" type="datetimeFigureOut">
              <a:rPr lang="en-GB" altLang="en-US"/>
              <a:pPr>
                <a:defRPr/>
              </a:pPr>
              <a:t>08/10/2026</a:t>
            </a:fld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E66F36-1B17-227C-6ABD-AD940A3C7D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F3DAB3-0797-4BC9-D2FA-F63D158D26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D94D558-9217-5340-9DA6-FCE652CE9F51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111413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343398-5402-3786-14E8-B718A01D4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4E6E42E-071D-C64B-8662-328B278ABF7F}" type="datetimeFigureOut">
              <a:rPr lang="en-GB" altLang="en-US"/>
              <a:pPr>
                <a:defRPr/>
              </a:pPr>
              <a:t>08/10/2026</a:t>
            </a:fld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F75451-0953-2B3B-EC75-AEBD1ACCA9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6BF9DC-BBD4-B8C2-E67F-C6F6B94AF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4D32B1-908D-5449-ACAB-766D7228D3C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4445791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0694301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F61290B0-0FDF-7FAF-FDD7-5C106616A35F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28600"/>
            <a:ext cx="8229600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  <a:endParaRPr lang="en-GB" altLang="en-US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19DB46B7-45AB-F2BA-04BF-399E3852225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333500"/>
            <a:ext cx="8229600" cy="377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  <a:endParaRPr lang="en-GB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319BB8-062E-C2D3-F859-344907FA76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5297488"/>
            <a:ext cx="2133600" cy="3032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4EE6E70C-7ED9-0E4D-A432-43A0624418AE}" type="datetimeFigureOut">
              <a:rPr lang="en-GB" altLang="en-US"/>
              <a:pPr>
                <a:defRPr/>
              </a:pPr>
              <a:t>08/10/2026</a:t>
            </a:fld>
            <a:endParaRPr lang="en-GB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315085-721A-E9B9-D963-C37BECA403A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5297488"/>
            <a:ext cx="2895600" cy="3032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endParaRPr lang="en-GB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9AF516-9C2C-401C-B382-2557B65E6F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5297488"/>
            <a:ext cx="2133600" cy="303212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4111D7-CB26-1A49-A154-810DD480153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3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5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hyperlink" Target="https://asecuritysite.com/golang/go_pad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asecuritysite.com/golang/go_pad" TargetMode="Externa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asecuritysite.com/hazmat/hashnew28" TargetMode="Externa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1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medium.com/asecuritysite-when-bob-met-alice/rijndael-v-serpent-9bf47d1514f4?source=friends_link&amp;sk=ff9f5d351499ebbafca3c42b88fccc8a" TargetMode="External"/><Relationship Id="rId4" Type="http://schemas.openxmlformats.org/officeDocument/2006/relationships/image" Target="../media/image2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hyperlink" Target="https://asecuritysite.com/golang/go_chacha" TargetMode="External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s://asecuritysite.com/aes/hashnew4a" TargetMode="Externa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2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securitysite.com/golang/go_symmetric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securitysite.com/hazmat/hashnew4" TargetMode="Externa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securitysite.com/golang/go_symmetric" TargetMode="Externa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securitysite.com/golang/go_symmetric" TargetMode="Externa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asecuritysite.com/hazmat/hashnew21" TargetMode="Externa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Relationship Id="rId4" Type="http://schemas.openxmlformats.org/officeDocument/2006/relationships/image" Target="../media/image32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3.emf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asecuritysite.com/encryption/passes" TargetMode="External"/><Relationship Id="rId5" Type="http://schemas.openxmlformats.org/officeDocument/2006/relationships/hyperlink" Target="https://asecuritysite.com/node/js_entropy?pass=K0l6nN%232ojj" TargetMode="External"/><Relationship Id="rId4" Type="http://schemas.openxmlformats.org/officeDocument/2006/relationships/image" Target="../media/image35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0FF5DDD1-9334-1FFA-203B-FDE257AFA9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25700"/>
            <a:ext cx="5327650" cy="952500"/>
          </a:xfrm>
        </p:spPr>
        <p:txBody>
          <a:bodyPr/>
          <a:lstStyle/>
          <a:p>
            <a:pPr algn="l"/>
            <a:r>
              <a:rPr lang="en-US" altLang="en-US" b="1" dirty="0">
                <a:solidFill>
                  <a:srgbClr val="C00000"/>
                </a:solidFill>
              </a:rPr>
              <a:t>Symmetric Key</a:t>
            </a:r>
            <a:br>
              <a:rPr lang="en-US" altLang="en-US" b="1" dirty="0">
                <a:solidFill>
                  <a:srgbClr val="C00000"/>
                </a:solidFill>
              </a:rPr>
            </a:br>
            <a:br>
              <a:rPr lang="en-US" altLang="en-US" b="1" dirty="0">
                <a:solidFill>
                  <a:srgbClr val="C00000"/>
                </a:solidFill>
              </a:rPr>
            </a:br>
            <a:r>
              <a:rPr lang="en-US" altLang="en-US" sz="2000" dirty="0">
                <a:solidFill>
                  <a:srgbClr val="C00000"/>
                </a:solidFill>
              </a:rPr>
              <a:t>Basics</a:t>
            </a:r>
            <a:br>
              <a:rPr lang="en-US" altLang="en-US" sz="2000" dirty="0">
                <a:solidFill>
                  <a:srgbClr val="C00000"/>
                </a:solidFill>
              </a:rPr>
            </a:br>
            <a:r>
              <a:rPr lang="en-US" altLang="en-US" sz="2000" dirty="0">
                <a:solidFill>
                  <a:srgbClr val="C00000"/>
                </a:solidFill>
              </a:rPr>
              <a:t>Block or Stream?</a:t>
            </a:r>
            <a:br>
              <a:rPr lang="en-US" altLang="en-US" sz="2000" dirty="0">
                <a:solidFill>
                  <a:srgbClr val="C00000"/>
                </a:solidFill>
              </a:rPr>
            </a:br>
            <a:r>
              <a:rPr lang="en-US" altLang="en-US" sz="2000" dirty="0">
                <a:solidFill>
                  <a:srgbClr val="C00000"/>
                </a:solidFill>
              </a:rPr>
              <a:t>Secret Key Methods</a:t>
            </a:r>
            <a:br>
              <a:rPr lang="en-US" altLang="en-US" sz="2000" dirty="0">
                <a:solidFill>
                  <a:srgbClr val="C00000"/>
                </a:solidFill>
              </a:rPr>
            </a:br>
            <a:r>
              <a:rPr lang="en-US" altLang="en-US" sz="2000" dirty="0">
                <a:solidFill>
                  <a:srgbClr val="C00000"/>
                </a:solidFill>
              </a:rPr>
              <a:t>Salting</a:t>
            </a:r>
            <a:br>
              <a:rPr lang="en-US" altLang="en-US" sz="2000" dirty="0">
                <a:solidFill>
                  <a:srgbClr val="C00000"/>
                </a:solidFill>
              </a:rPr>
            </a:br>
            <a:r>
              <a:rPr lang="en-US" altLang="en-US" sz="2000" dirty="0">
                <a:solidFill>
                  <a:srgbClr val="C00000"/>
                </a:solidFill>
              </a:rPr>
              <a:t>AES</a:t>
            </a:r>
            <a:br>
              <a:rPr lang="en-US" altLang="en-US" sz="2000" dirty="0">
                <a:solidFill>
                  <a:srgbClr val="C00000"/>
                </a:solidFill>
              </a:rPr>
            </a:br>
            <a:r>
              <a:rPr lang="en-US" altLang="en-US" sz="2000" dirty="0">
                <a:solidFill>
                  <a:srgbClr val="C00000"/>
                </a:solidFill>
              </a:rPr>
              <a:t>Key Entropy</a:t>
            </a:r>
            <a:br>
              <a:rPr lang="en-US" altLang="en-US" sz="2000" b="1" dirty="0">
                <a:solidFill>
                  <a:srgbClr val="C00000"/>
                </a:solidFill>
              </a:rPr>
            </a:br>
            <a:br>
              <a:rPr lang="en-US" altLang="en-US" b="1" dirty="0">
                <a:solidFill>
                  <a:srgbClr val="C00000"/>
                </a:solidFill>
              </a:rPr>
            </a:br>
            <a:r>
              <a:rPr lang="en-US" altLang="en-US" sz="3000" b="1" dirty="0"/>
              <a:t>Prof Bill Buchanan OBE, FRSE</a:t>
            </a:r>
            <a:br>
              <a:rPr lang="en-US" altLang="en-US" dirty="0">
                <a:solidFill>
                  <a:srgbClr val="C00000"/>
                </a:solidFill>
              </a:rPr>
            </a:br>
            <a:r>
              <a:rPr lang="en-US" altLang="en-US" sz="2000" dirty="0">
                <a:solidFill>
                  <a:srgbClr val="C00000"/>
                </a:solidFill>
              </a:rPr>
              <a:t>https://</a:t>
            </a:r>
            <a:r>
              <a:rPr lang="en-US" altLang="en-US" sz="2000" dirty="0" err="1">
                <a:solidFill>
                  <a:srgbClr val="C00000"/>
                </a:solidFill>
              </a:rPr>
              <a:t>asecuritysite.com</a:t>
            </a:r>
            <a:r>
              <a:rPr lang="en-US" altLang="en-US" sz="2000" dirty="0">
                <a:solidFill>
                  <a:srgbClr val="C00000"/>
                </a:solidFill>
              </a:rPr>
              <a:t>/symmetric</a:t>
            </a:r>
            <a:br>
              <a:rPr lang="en-US" altLang="en-US" sz="2000" dirty="0">
                <a:solidFill>
                  <a:srgbClr val="C00000"/>
                </a:solidFill>
              </a:rPr>
            </a:br>
            <a:endParaRPr lang="en-US" altLang="en-US" sz="2000" dirty="0">
              <a:solidFill>
                <a:srgbClr val="C00000"/>
              </a:solidFill>
            </a:endParaRPr>
          </a:p>
        </p:txBody>
      </p:sp>
      <p:pic>
        <p:nvPicPr>
          <p:cNvPr id="16386" name="Picture 4" descr="Image">
            <a:extLst>
              <a:ext uri="{FF2B5EF4-FFF2-40B4-BE49-F238E27FC236}">
                <a16:creationId xmlns:a16="http://schemas.microsoft.com/office/drawing/2014/main" id="{A568D264-558C-5DD2-5ADF-57DD013F0D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605420"/>
            <a:ext cx="3378451" cy="2836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91DAD96F-BCDB-DF32-720B-8C1AF0EE97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18434" name="Content Placeholder 2">
            <a:extLst>
              <a:ext uri="{FF2B5EF4-FFF2-40B4-BE49-F238E27FC236}">
                <a16:creationId xmlns:a16="http://schemas.microsoft.com/office/drawing/2014/main" id="{3F1636B8-D0F6-1BF9-CE6C-FC655E5711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18435" name="Picture 3">
            <a:extLst>
              <a:ext uri="{FF2B5EF4-FFF2-40B4-BE49-F238E27FC236}">
                <a16:creationId xmlns:a16="http://schemas.microsoft.com/office/drawing/2014/main" id="{7E83137D-C9A2-7BC9-6C44-4E52DC235D5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Title 1">
            <a:extLst>
              <a:ext uri="{FF2B5EF4-FFF2-40B4-BE49-F238E27FC236}">
                <a16:creationId xmlns:a16="http://schemas.microsoft.com/office/drawing/2014/main" id="{5491F025-2AB4-CCC4-E425-1B3E625AE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25700"/>
            <a:ext cx="5327650" cy="952500"/>
          </a:xfrm>
        </p:spPr>
        <p:txBody>
          <a:bodyPr/>
          <a:lstStyle/>
          <a:p>
            <a:pPr algn="l"/>
            <a:r>
              <a:rPr lang="en-US" altLang="en-US" b="1" dirty="0">
                <a:solidFill>
                  <a:srgbClr val="C00000"/>
                </a:solidFill>
              </a:rPr>
              <a:t>Symmetric Key</a:t>
            </a:r>
            <a:br>
              <a:rPr lang="en-US" altLang="en-US" b="1" dirty="0">
                <a:solidFill>
                  <a:srgbClr val="C00000"/>
                </a:solidFill>
              </a:rPr>
            </a:br>
            <a:br>
              <a:rPr lang="en-US" altLang="en-US" b="1" dirty="0">
                <a:solidFill>
                  <a:srgbClr val="C00000"/>
                </a:solidFill>
              </a:rPr>
            </a:br>
            <a:r>
              <a:rPr lang="en-US" altLang="en-US" sz="2000" b="1" dirty="0">
                <a:solidFill>
                  <a:srgbClr val="C00000"/>
                </a:solidFill>
              </a:rPr>
              <a:t>Basics</a:t>
            </a:r>
            <a:br>
              <a:rPr lang="en-US" altLang="en-US" sz="2000" dirty="0">
                <a:solidFill>
                  <a:srgbClr val="C00000"/>
                </a:solidFill>
              </a:rPr>
            </a:br>
            <a:r>
              <a:rPr lang="en-US" altLang="en-US" sz="2000" dirty="0">
                <a:solidFill>
                  <a:srgbClr val="C00000"/>
                </a:solidFill>
              </a:rPr>
              <a:t>Block or Stream?</a:t>
            </a:r>
            <a:br>
              <a:rPr lang="en-US" altLang="en-US" sz="2000" dirty="0">
                <a:solidFill>
                  <a:srgbClr val="C00000"/>
                </a:solidFill>
              </a:rPr>
            </a:br>
            <a:r>
              <a:rPr lang="en-US" altLang="en-US" sz="2000" dirty="0">
                <a:solidFill>
                  <a:srgbClr val="C00000"/>
                </a:solidFill>
              </a:rPr>
              <a:t>Secret Key Methods</a:t>
            </a:r>
            <a:br>
              <a:rPr lang="en-US" altLang="en-US" sz="2000" dirty="0">
                <a:solidFill>
                  <a:srgbClr val="C00000"/>
                </a:solidFill>
              </a:rPr>
            </a:br>
            <a:r>
              <a:rPr lang="en-US" altLang="en-US" sz="2000" dirty="0">
                <a:solidFill>
                  <a:srgbClr val="C00000"/>
                </a:solidFill>
              </a:rPr>
              <a:t>Salting</a:t>
            </a:r>
            <a:br>
              <a:rPr lang="en-US" altLang="en-US" sz="2000" dirty="0">
                <a:solidFill>
                  <a:srgbClr val="C00000"/>
                </a:solidFill>
              </a:rPr>
            </a:br>
            <a:r>
              <a:rPr lang="en-US" altLang="en-US" sz="2000" dirty="0">
                <a:solidFill>
                  <a:srgbClr val="C00000"/>
                </a:solidFill>
              </a:rPr>
              <a:t>AES</a:t>
            </a:r>
            <a:br>
              <a:rPr lang="en-US" altLang="en-US" sz="2000" dirty="0">
                <a:solidFill>
                  <a:srgbClr val="C00000"/>
                </a:solidFill>
              </a:rPr>
            </a:br>
            <a:r>
              <a:rPr lang="en-US" altLang="en-US" sz="2000" dirty="0">
                <a:solidFill>
                  <a:srgbClr val="C00000"/>
                </a:solidFill>
              </a:rPr>
              <a:t>Key Entropy</a:t>
            </a:r>
            <a:br>
              <a:rPr lang="en-US" altLang="en-US" sz="2000" b="1" dirty="0">
                <a:solidFill>
                  <a:srgbClr val="C00000"/>
                </a:solidFill>
              </a:rPr>
            </a:br>
            <a:br>
              <a:rPr lang="en-US" altLang="en-US" b="1" dirty="0">
                <a:solidFill>
                  <a:srgbClr val="C00000"/>
                </a:solidFill>
              </a:rPr>
            </a:br>
            <a:r>
              <a:rPr lang="en-US" altLang="en-US" sz="3000" b="1" dirty="0"/>
              <a:t>Prof Bill Buchanan OBE, FRSE</a:t>
            </a:r>
            <a:br>
              <a:rPr lang="en-US" altLang="en-US" dirty="0">
                <a:solidFill>
                  <a:srgbClr val="C00000"/>
                </a:solidFill>
              </a:rPr>
            </a:br>
            <a:r>
              <a:rPr lang="en-US" altLang="en-US" sz="2000" dirty="0">
                <a:solidFill>
                  <a:srgbClr val="C00000"/>
                </a:solidFill>
              </a:rPr>
              <a:t>https://</a:t>
            </a:r>
            <a:r>
              <a:rPr lang="en-US" altLang="en-US" sz="2000" dirty="0" err="1">
                <a:solidFill>
                  <a:srgbClr val="C00000"/>
                </a:solidFill>
              </a:rPr>
              <a:t>asecuritysite.com</a:t>
            </a:r>
            <a:r>
              <a:rPr lang="en-US" altLang="en-US" sz="2000" dirty="0">
                <a:solidFill>
                  <a:srgbClr val="C00000"/>
                </a:solidFill>
              </a:rPr>
              <a:t>/symmetric</a:t>
            </a:r>
            <a:br>
              <a:rPr lang="en-US" altLang="en-US" sz="2000" dirty="0">
                <a:solidFill>
                  <a:srgbClr val="C00000"/>
                </a:solidFill>
              </a:rPr>
            </a:br>
            <a:endParaRPr lang="en-US" altLang="en-US" sz="2000" dirty="0">
              <a:solidFill>
                <a:srgbClr val="C00000"/>
              </a:solidFill>
            </a:endParaRPr>
          </a:p>
        </p:txBody>
      </p:sp>
      <p:pic>
        <p:nvPicPr>
          <p:cNvPr id="2" name="Content Placeholder 3" descr="Text, whiteboard&#10;&#10;Description automatically generated">
            <a:extLst>
              <a:ext uri="{FF2B5EF4-FFF2-40B4-BE49-F238E27FC236}">
                <a16:creationId xmlns:a16="http://schemas.microsoft.com/office/drawing/2014/main" id="{9544ACFA-4709-8400-C803-BF3D9E9398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539751"/>
            <a:ext cx="3540200" cy="359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Title 1">
            <a:extLst>
              <a:ext uri="{FF2B5EF4-FFF2-40B4-BE49-F238E27FC236}">
                <a16:creationId xmlns:a16="http://schemas.microsoft.com/office/drawing/2014/main" id="{198599F6-0E62-A699-46E5-1710ACFCA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22530" name="Content Placeholder 2">
            <a:extLst>
              <a:ext uri="{FF2B5EF4-FFF2-40B4-BE49-F238E27FC236}">
                <a16:creationId xmlns:a16="http://schemas.microsoft.com/office/drawing/2014/main" id="{025A7E6A-C324-D7DD-506F-2B8736D65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22531" name="Picture 3">
            <a:extLst>
              <a:ext uri="{FF2B5EF4-FFF2-40B4-BE49-F238E27FC236}">
                <a16:creationId xmlns:a16="http://schemas.microsoft.com/office/drawing/2014/main" id="{2B93BADC-366B-E70F-616C-9AAF078917D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Title 1">
            <a:extLst>
              <a:ext uri="{FF2B5EF4-FFF2-40B4-BE49-F238E27FC236}">
                <a16:creationId xmlns:a16="http://schemas.microsoft.com/office/drawing/2014/main" id="{D0C83DC6-2729-8A76-5F1C-939CA996B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24578" name="Content Placeholder 2">
            <a:extLst>
              <a:ext uri="{FF2B5EF4-FFF2-40B4-BE49-F238E27FC236}">
                <a16:creationId xmlns:a16="http://schemas.microsoft.com/office/drawing/2014/main" id="{BF13A761-654D-5C27-AAA3-3DA82CE805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pic>
        <p:nvPicPr>
          <p:cNvPr id="24579" name="Picture 2">
            <a:extLst>
              <a:ext uri="{FF2B5EF4-FFF2-40B4-BE49-F238E27FC236}">
                <a16:creationId xmlns:a16="http://schemas.microsoft.com/office/drawing/2014/main" id="{CF4E4FAD-8F38-659A-3D3E-9014F77754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5" y="0"/>
            <a:ext cx="9140825" cy="574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Title 1">
            <a:extLst>
              <a:ext uri="{FF2B5EF4-FFF2-40B4-BE49-F238E27FC236}">
                <a16:creationId xmlns:a16="http://schemas.microsoft.com/office/drawing/2014/main" id="{4D6D55BE-0EC0-27E5-278E-D190DC534F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26626" name="Content Placeholder 2">
            <a:extLst>
              <a:ext uri="{FF2B5EF4-FFF2-40B4-BE49-F238E27FC236}">
                <a16:creationId xmlns:a16="http://schemas.microsoft.com/office/drawing/2014/main" id="{6F419F70-F9E4-28AB-4DA2-8CFB00F35E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pic>
        <p:nvPicPr>
          <p:cNvPr id="26627" name="Picture 1">
            <a:extLst>
              <a:ext uri="{FF2B5EF4-FFF2-40B4-BE49-F238E27FC236}">
                <a16:creationId xmlns:a16="http://schemas.microsoft.com/office/drawing/2014/main" id="{352F9BA1-EB54-F800-EDB4-1F8ECC44A7C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Title 1">
            <a:extLst>
              <a:ext uri="{FF2B5EF4-FFF2-40B4-BE49-F238E27FC236}">
                <a16:creationId xmlns:a16="http://schemas.microsoft.com/office/drawing/2014/main" id="{877672C6-EB8D-1FC6-1942-1C4D06834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pic>
        <p:nvPicPr>
          <p:cNvPr id="28674" name="Content Placeholder 2" descr="A black and white cat lying on a bed&#10;&#10;Description automatically generated with medium confidence">
            <a:extLst>
              <a:ext uri="{FF2B5EF4-FFF2-40B4-BE49-F238E27FC236}">
                <a16:creationId xmlns:a16="http://schemas.microsoft.com/office/drawing/2014/main" id="{4C8E4177-B8E2-1644-6042-55A2BACCADD2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57400" y="1333500"/>
            <a:ext cx="5029200" cy="3771900"/>
          </a:xfrm>
        </p:spPr>
      </p:pic>
      <p:pic>
        <p:nvPicPr>
          <p:cNvPr id="28675" name="Picture 2">
            <a:extLst>
              <a:ext uri="{FF2B5EF4-FFF2-40B4-BE49-F238E27FC236}">
                <a16:creationId xmlns:a16="http://schemas.microsoft.com/office/drawing/2014/main" id="{C4D01787-4ED6-62F7-47D6-A79A751872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C2DC4AEA-0592-21FF-29AB-AEDF992FB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809750"/>
            <a:ext cx="7899400" cy="2806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Title 1">
            <a:extLst>
              <a:ext uri="{FF2B5EF4-FFF2-40B4-BE49-F238E27FC236}">
                <a16:creationId xmlns:a16="http://schemas.microsoft.com/office/drawing/2014/main" id="{3FFAC3CD-CFC2-3668-93FA-48336C0D61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30722" name="Content Placeholder 2">
            <a:extLst>
              <a:ext uri="{FF2B5EF4-FFF2-40B4-BE49-F238E27FC236}">
                <a16:creationId xmlns:a16="http://schemas.microsoft.com/office/drawing/2014/main" id="{EF54E218-C95C-DB68-0D99-6695A99CA8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pic>
        <p:nvPicPr>
          <p:cNvPr id="30723" name="Picture 2">
            <a:extLst>
              <a:ext uri="{FF2B5EF4-FFF2-40B4-BE49-F238E27FC236}">
                <a16:creationId xmlns:a16="http://schemas.microsoft.com/office/drawing/2014/main" id="{7C5A6790-374C-07A3-8810-22ABFF7BC3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Title 1">
            <a:extLst>
              <a:ext uri="{FF2B5EF4-FFF2-40B4-BE49-F238E27FC236}">
                <a16:creationId xmlns:a16="http://schemas.microsoft.com/office/drawing/2014/main" id="{E3CB0BA0-F537-1E9F-07C2-24D2C87FA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2770" name="Content Placeholder 2">
            <a:extLst>
              <a:ext uri="{FF2B5EF4-FFF2-40B4-BE49-F238E27FC236}">
                <a16:creationId xmlns:a16="http://schemas.microsoft.com/office/drawing/2014/main" id="{50235170-DFE3-9593-CD51-5DB6CC7D69C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32771" name="Picture 3">
            <a:extLst>
              <a:ext uri="{FF2B5EF4-FFF2-40B4-BE49-F238E27FC236}">
                <a16:creationId xmlns:a16="http://schemas.microsoft.com/office/drawing/2014/main" id="{E27ED239-ABA3-B58E-CD87-E7F453F864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Title 1">
            <a:extLst>
              <a:ext uri="{FF2B5EF4-FFF2-40B4-BE49-F238E27FC236}">
                <a16:creationId xmlns:a16="http://schemas.microsoft.com/office/drawing/2014/main" id="{94928EAF-6CA1-3DF6-28AD-AD60CBBDC7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4818" name="Content Placeholder 2">
            <a:extLst>
              <a:ext uri="{FF2B5EF4-FFF2-40B4-BE49-F238E27FC236}">
                <a16:creationId xmlns:a16="http://schemas.microsoft.com/office/drawing/2014/main" id="{9EED000F-E357-B390-C620-A09ABAEE36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34819" name="Picture 3">
            <a:extLst>
              <a:ext uri="{FF2B5EF4-FFF2-40B4-BE49-F238E27FC236}">
                <a16:creationId xmlns:a16="http://schemas.microsoft.com/office/drawing/2014/main" id="{F9095BCD-F255-63E1-D6F0-E9E70E244D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82A6805D-AC65-4584-85ED-16A4189644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6866" name="Content Placeholder 2">
            <a:extLst>
              <a:ext uri="{FF2B5EF4-FFF2-40B4-BE49-F238E27FC236}">
                <a16:creationId xmlns:a16="http://schemas.microsoft.com/office/drawing/2014/main" id="{435A509E-86EC-3B8A-AEC5-525EB9C955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36867" name="Picture 3">
            <a:extLst>
              <a:ext uri="{FF2B5EF4-FFF2-40B4-BE49-F238E27FC236}">
                <a16:creationId xmlns:a16="http://schemas.microsoft.com/office/drawing/2014/main" id="{AC7C6EB8-808B-9F30-A7D4-66BB5EE7F3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Title 1">
            <a:extLst>
              <a:ext uri="{FF2B5EF4-FFF2-40B4-BE49-F238E27FC236}">
                <a16:creationId xmlns:a16="http://schemas.microsoft.com/office/drawing/2014/main" id="{C2FB3CA7-4B2E-681A-EECE-B386C3960A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38914" name="Content Placeholder 2">
            <a:extLst>
              <a:ext uri="{FF2B5EF4-FFF2-40B4-BE49-F238E27FC236}">
                <a16:creationId xmlns:a16="http://schemas.microsoft.com/office/drawing/2014/main" id="{EFE905D3-14F1-86E8-C31F-00CC5BB950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38915" name="Picture 3">
            <a:extLst>
              <a:ext uri="{FF2B5EF4-FFF2-40B4-BE49-F238E27FC236}">
                <a16:creationId xmlns:a16="http://schemas.microsoft.com/office/drawing/2014/main" id="{F1EDFF5C-C25D-7519-74B6-9DF7BEBCA0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>
            <a:extLst>
              <a:ext uri="{FF2B5EF4-FFF2-40B4-BE49-F238E27FC236}">
                <a16:creationId xmlns:a16="http://schemas.microsoft.com/office/drawing/2014/main" id="{C5C715F6-04C7-F6CC-898A-138CCDA1DB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40962" name="Content Placeholder 2">
            <a:extLst>
              <a:ext uri="{FF2B5EF4-FFF2-40B4-BE49-F238E27FC236}">
                <a16:creationId xmlns:a16="http://schemas.microsoft.com/office/drawing/2014/main" id="{D1170086-D4F4-C6F4-6F42-8BE86BE470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pic>
        <p:nvPicPr>
          <p:cNvPr id="40963" name="Picture 3">
            <a:extLst>
              <a:ext uri="{FF2B5EF4-FFF2-40B4-BE49-F238E27FC236}">
                <a16:creationId xmlns:a16="http://schemas.microsoft.com/office/drawing/2014/main" id="{6799D67E-1E57-0E69-4C83-10F1637A68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8F322265-A8F8-3948-992C-F531BED707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25700"/>
            <a:ext cx="5327650" cy="952500"/>
          </a:xfrm>
        </p:spPr>
        <p:txBody>
          <a:bodyPr/>
          <a:lstStyle/>
          <a:p>
            <a:pPr algn="l"/>
            <a:r>
              <a:rPr lang="en-US" altLang="en-US" b="1">
                <a:solidFill>
                  <a:srgbClr val="C00000"/>
                </a:solidFill>
              </a:rPr>
              <a:t>Symmetric Key</a:t>
            </a:r>
            <a:br>
              <a:rPr lang="en-US" altLang="en-US" b="1">
                <a:solidFill>
                  <a:srgbClr val="C00000"/>
                </a:solidFill>
              </a:rPr>
            </a:br>
            <a:br>
              <a:rPr lang="en-US" altLang="en-US" b="1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Basics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 b="1">
                <a:solidFill>
                  <a:srgbClr val="C00000"/>
                </a:solidFill>
              </a:rPr>
              <a:t>Block or Stream?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Secret Key Methods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Salting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AES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Key Entropy</a:t>
            </a:r>
            <a:br>
              <a:rPr lang="en-US" altLang="en-US" sz="2000" b="1">
                <a:solidFill>
                  <a:srgbClr val="C00000"/>
                </a:solidFill>
              </a:rPr>
            </a:br>
            <a:br>
              <a:rPr lang="en-US" altLang="en-US" b="1">
                <a:solidFill>
                  <a:srgbClr val="C00000"/>
                </a:solidFill>
              </a:rPr>
            </a:br>
            <a:r>
              <a:rPr lang="en-US" altLang="en-US" sz="3000" b="1"/>
              <a:t>Prof Bill Buchanan OBE</a:t>
            </a:r>
            <a:br>
              <a:rPr lang="en-US" altLang="en-US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https://asecuritysite.com/symmetric</a:t>
            </a:r>
          </a:p>
        </p:txBody>
      </p:sp>
      <p:pic>
        <p:nvPicPr>
          <p:cNvPr id="43010" name="Content Placeholder 3" descr="Text, whiteboard&#10;&#10;Description automatically generated">
            <a:extLst>
              <a:ext uri="{FF2B5EF4-FFF2-40B4-BE49-F238E27FC236}">
                <a16:creationId xmlns:a16="http://schemas.microsoft.com/office/drawing/2014/main" id="{CA9CDA61-3406-CDFF-071F-A98EF4EC8E1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539750"/>
            <a:ext cx="4332288" cy="4405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28D16-9377-2049-9477-C65CCEADFFA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98AFDFD-41FD-774F-9534-E60380185E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9111" y="1454944"/>
            <a:ext cx="8001000" cy="23836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hape 345">
            <a:extLst>
              <a:ext uri="{FF2B5EF4-FFF2-40B4-BE49-F238E27FC236}">
                <a16:creationId xmlns:a16="http://schemas.microsoft.com/office/drawing/2014/main" id="{E4690FC7-F7C6-204E-8FF8-518B852D9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3509"/>
            <a:ext cx="7886700" cy="6497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sz="3000" b="1" dirty="0">
                <a:solidFill>
                  <a:srgbClr val="C00000"/>
                </a:solidFill>
              </a:rPr>
              <a:t>Symmetric Key</a:t>
            </a:r>
            <a:endParaRPr sz="3000" dirty="0">
              <a:solidFill>
                <a:srgbClr val="C0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5E5AF42-05F0-C19A-FE1C-C0B6CF37AF1D}"/>
              </a:ext>
            </a:extLst>
          </p:cNvPr>
          <p:cNvSpPr txBox="1"/>
          <p:nvPr/>
        </p:nvSpPr>
        <p:spPr>
          <a:xfrm>
            <a:off x="269111" y="3785853"/>
            <a:ext cx="8273052" cy="2031325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GB" dirty="0"/>
              <a:t>Block cipher: </a:t>
            </a:r>
            <a:r>
              <a:rPr lang="en-GB" b="1" dirty="0"/>
              <a:t>AES (128-bit block)</a:t>
            </a:r>
            <a:r>
              <a:rPr lang="en-GB" dirty="0"/>
              <a:t>, DES (64-bit block), 3DES (64-bit block), Blowfish, SM4, Camellia, GOST, IDEA, RC2, Serpent, Skipjack, </a:t>
            </a:r>
            <a:r>
              <a:rPr lang="en-GB" dirty="0" err="1"/>
              <a:t>Twofish</a:t>
            </a:r>
            <a:r>
              <a:rPr lang="en-GB" dirty="0"/>
              <a:t>, and XTEA</a:t>
            </a:r>
            <a:br>
              <a:rPr lang="en-GB" dirty="0"/>
            </a:br>
            <a:r>
              <a:rPr lang="en-GB" dirty="0"/>
              <a:t>Stream cipher: </a:t>
            </a:r>
            <a:r>
              <a:rPr lang="en-GB" b="1" dirty="0"/>
              <a:t>ChaCha20</a:t>
            </a:r>
            <a:r>
              <a:rPr lang="en-GB" dirty="0"/>
              <a:t>, </a:t>
            </a:r>
            <a:r>
              <a:rPr lang="en-GB" b="1" dirty="0"/>
              <a:t>AES GCM</a:t>
            </a:r>
            <a:r>
              <a:rPr lang="en-GB" dirty="0"/>
              <a:t>, ARIA, Sala20, and RC4.</a:t>
            </a:r>
            <a:br>
              <a:rPr lang="en-GB" dirty="0"/>
            </a:br>
            <a:br>
              <a:rPr lang="en-GB" dirty="0"/>
            </a:br>
            <a:r>
              <a:rPr lang="en-GB" dirty="0"/>
              <a:t>AES also known as Rijndael (after Joan Daemen and Vincent </a:t>
            </a:r>
            <a:r>
              <a:rPr lang="en-GB" dirty="0" err="1"/>
              <a:t>Rijmen</a:t>
            </a:r>
            <a:r>
              <a:rPr lang="en-GB" dirty="0"/>
              <a:t>).</a:t>
            </a:r>
            <a:br>
              <a:rPr lang="en-GB" dirty="0"/>
            </a:br>
            <a:r>
              <a:rPr lang="en-GB" dirty="0"/>
              <a:t>ChaCha20 created by Daniel J Bernstein.</a:t>
            </a:r>
            <a:br>
              <a:rPr lang="en-GB" dirty="0"/>
            </a:br>
            <a:r>
              <a:rPr lang="en-GB" dirty="0"/>
              <a:t>Blowfish and </a:t>
            </a:r>
            <a:r>
              <a:rPr lang="en-GB" dirty="0" err="1"/>
              <a:t>Twofish</a:t>
            </a:r>
            <a:r>
              <a:rPr lang="en-GB" dirty="0"/>
              <a:t> created by Bruce Schneier.</a:t>
            </a:r>
          </a:p>
        </p:txBody>
      </p:sp>
    </p:spTree>
    <p:extLst>
      <p:ext uri="{BB962C8B-B14F-4D97-AF65-F5344CB8AC3E}">
        <p14:creationId xmlns:p14="http://schemas.microsoft.com/office/powerpoint/2010/main" val="42034324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28D16-9377-2049-9477-C65CCEADFFA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hape 345">
            <a:extLst>
              <a:ext uri="{FF2B5EF4-FFF2-40B4-BE49-F238E27FC236}">
                <a16:creationId xmlns:a16="http://schemas.microsoft.com/office/drawing/2014/main" id="{E4690FC7-F7C6-204E-8FF8-518B852D9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3509"/>
            <a:ext cx="7886700" cy="6497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sz="3000" b="1" dirty="0">
                <a:solidFill>
                  <a:srgbClr val="C00000"/>
                </a:solidFill>
              </a:rPr>
              <a:t>Number of keys</a:t>
            </a:r>
            <a:endParaRPr sz="3000" dirty="0">
              <a:solidFill>
                <a:srgbClr val="C00000"/>
              </a:solidFill>
            </a:endParaRPr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F23CACBC-4FB3-8318-E31D-6A22CA7362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620" y="1026729"/>
            <a:ext cx="6858000" cy="428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4" descr="Table&#10;&#10;Description automatically generated">
            <a:extLst>
              <a:ext uri="{FF2B5EF4-FFF2-40B4-BE49-F238E27FC236}">
                <a16:creationId xmlns:a16="http://schemas.microsoft.com/office/drawing/2014/main" id="{DC75153A-38F5-BEE3-0F25-96AF61187D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777" y="1320176"/>
            <a:ext cx="8439382" cy="299855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8223849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"/>
          <p:cNvSpPr txBox="1">
            <a:spLocks noGrp="1"/>
          </p:cNvSpPr>
          <p:nvPr>
            <p:ph type="title" idx="4294967295"/>
          </p:nvPr>
        </p:nvSpPr>
        <p:spPr>
          <a:xfrm>
            <a:off x="868680" y="491490"/>
            <a:ext cx="7406640" cy="85725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05" name="Body"/>
          <p:cNvSpPr txBox="1">
            <a:spLocks noGrp="1"/>
          </p:cNvSpPr>
          <p:nvPr>
            <p:ph type="body" idx="4294967295"/>
          </p:nvPr>
        </p:nvSpPr>
        <p:spPr>
          <a:xfrm>
            <a:off x="868680" y="1485900"/>
            <a:ext cx="7406640" cy="339471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sp>
        <p:nvSpPr>
          <p:cNvPr id="7" name="Shape 345">
            <a:extLst>
              <a:ext uri="{FF2B5EF4-FFF2-40B4-BE49-F238E27FC236}">
                <a16:creationId xmlns:a16="http://schemas.microsoft.com/office/drawing/2014/main" id="{570B7E13-1230-0144-91F1-6D13731471E5}"/>
              </a:ext>
            </a:extLst>
          </p:cNvPr>
          <p:cNvSpPr txBox="1">
            <a:spLocks/>
          </p:cNvSpPr>
          <p:nvPr/>
        </p:nvSpPr>
        <p:spPr>
          <a:xfrm>
            <a:off x="0" y="273509"/>
            <a:ext cx="7886700" cy="6497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hangingPunct="1"/>
            <a:r>
              <a:rPr lang="en-US" sz="3000" b="1" dirty="0"/>
              <a:t>Symmetric Key – Block cipher</a:t>
            </a:r>
            <a:endParaRPr lang="en-US" sz="3000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18BB84B3-BC1C-3143-A001-4D49E4C61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15340"/>
            <a:ext cx="9144000" cy="4492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62894B6D-DAFB-1041-B4F6-A48A0DF324A2}"/>
              </a:ext>
            </a:extLst>
          </p:cNvPr>
          <p:cNvSpPr/>
          <p:nvPr/>
        </p:nvSpPr>
        <p:spPr>
          <a:xfrm>
            <a:off x="0" y="5169068"/>
            <a:ext cx="40453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asecuritysite.com</a:t>
            </a:r>
            <a:r>
              <a:rPr lang="en-US" dirty="0">
                <a:hlinkClick r:id="rId3"/>
              </a:rPr>
              <a:t>/</a:t>
            </a:r>
            <a:r>
              <a:rPr lang="en-US" dirty="0" err="1">
                <a:hlinkClick r:id="rId3"/>
              </a:rPr>
              <a:t>golang</a:t>
            </a:r>
            <a:r>
              <a:rPr lang="en-US" dirty="0">
                <a:hlinkClick r:id="rId3"/>
              </a:rPr>
              <a:t>/</a:t>
            </a:r>
            <a:r>
              <a:rPr lang="en-US" dirty="0" err="1">
                <a:hlinkClick r:id="rId3"/>
              </a:rPr>
              <a:t>go_pad</a:t>
            </a:r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"/>
          <p:cNvSpPr txBox="1">
            <a:spLocks noGrp="1"/>
          </p:cNvSpPr>
          <p:nvPr>
            <p:ph type="title" idx="4294967295"/>
          </p:nvPr>
        </p:nvSpPr>
        <p:spPr>
          <a:xfrm>
            <a:off x="868680" y="491490"/>
            <a:ext cx="7406640" cy="85725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05" name="Body"/>
          <p:cNvSpPr txBox="1">
            <a:spLocks noGrp="1"/>
          </p:cNvSpPr>
          <p:nvPr>
            <p:ph type="body" idx="4294967295"/>
          </p:nvPr>
        </p:nvSpPr>
        <p:spPr>
          <a:xfrm>
            <a:off x="868680" y="1485900"/>
            <a:ext cx="7406640" cy="339471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sp>
        <p:nvSpPr>
          <p:cNvPr id="7" name="Shape 345">
            <a:extLst>
              <a:ext uri="{FF2B5EF4-FFF2-40B4-BE49-F238E27FC236}">
                <a16:creationId xmlns:a16="http://schemas.microsoft.com/office/drawing/2014/main" id="{570B7E13-1230-0144-91F1-6D13731471E5}"/>
              </a:ext>
            </a:extLst>
          </p:cNvPr>
          <p:cNvSpPr txBox="1">
            <a:spLocks/>
          </p:cNvSpPr>
          <p:nvPr/>
        </p:nvSpPr>
        <p:spPr>
          <a:xfrm>
            <a:off x="0" y="273509"/>
            <a:ext cx="7886700" cy="6497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hangingPunct="1"/>
            <a:r>
              <a:rPr lang="en-US" sz="3000" b="1" dirty="0"/>
              <a:t>Symmetric Key – Block cipher</a:t>
            </a:r>
            <a:endParaRPr lang="en-US" sz="3000" dirty="0"/>
          </a:p>
        </p:txBody>
      </p:sp>
      <p:pic>
        <p:nvPicPr>
          <p:cNvPr id="8196" name="Picture 4">
            <a:extLst>
              <a:ext uri="{FF2B5EF4-FFF2-40B4-BE49-F238E27FC236}">
                <a16:creationId xmlns:a16="http://schemas.microsoft.com/office/drawing/2014/main" id="{18BB84B3-BC1C-3143-A001-4D49E4C61A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15340"/>
            <a:ext cx="9144000" cy="44922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C825D19E-C168-FE4B-A892-A3C7BAD49499}"/>
              </a:ext>
            </a:extLst>
          </p:cNvPr>
          <p:cNvSpPr/>
          <p:nvPr/>
        </p:nvSpPr>
        <p:spPr>
          <a:xfrm>
            <a:off x="0" y="5169068"/>
            <a:ext cx="40453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asecuritysite.com</a:t>
            </a:r>
            <a:r>
              <a:rPr lang="en-US" dirty="0">
                <a:hlinkClick r:id="rId3"/>
              </a:rPr>
              <a:t>/</a:t>
            </a:r>
            <a:r>
              <a:rPr lang="en-US" dirty="0" err="1">
                <a:hlinkClick r:id="rId3"/>
              </a:rPr>
              <a:t>golang</a:t>
            </a:r>
            <a:r>
              <a:rPr lang="en-US" dirty="0">
                <a:hlinkClick r:id="rId3"/>
              </a:rPr>
              <a:t>/</a:t>
            </a:r>
            <a:r>
              <a:rPr lang="en-US" dirty="0" err="1">
                <a:hlinkClick r:id="rId3"/>
              </a:rPr>
              <a:t>go_pad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9180869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Padding"/>
          <p:cNvSpPr txBox="1">
            <a:spLocks noGrp="1"/>
          </p:cNvSpPr>
          <p:nvPr>
            <p:ph type="title" idx="4294967295"/>
          </p:nvPr>
        </p:nvSpPr>
        <p:spPr>
          <a:xfrm>
            <a:off x="868680" y="491490"/>
            <a:ext cx="7406640" cy="8572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t>Padding</a:t>
            </a:r>
          </a:p>
        </p:txBody>
      </p:sp>
      <p:sp>
        <p:nvSpPr>
          <p:cNvPr id="116" name="CMS (Cryptographic Message Syntax). This pads with the same value as the number of padding bytes. Defined in RFC 5652, PKCS#5, PKCS#7 and RFC 1423 PEM.…"/>
          <p:cNvSpPr txBox="1">
            <a:spLocks noGrp="1"/>
          </p:cNvSpPr>
          <p:nvPr>
            <p:ph type="body" idx="4294967295"/>
          </p:nvPr>
        </p:nvSpPr>
        <p:spPr>
          <a:xfrm>
            <a:off x="868680" y="1485900"/>
            <a:ext cx="7406640" cy="3394710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>
              <a:spcBef>
                <a:spcPts val="360"/>
              </a:spcBef>
              <a:defRPr sz="2000" b="1"/>
            </a:pPr>
            <a:r>
              <a:t>CMS</a:t>
            </a:r>
            <a:r>
              <a:rPr b="0"/>
              <a:t> (Cryptographic Message Syntax). This pads with the same value as the number of padding bytes. Defined in RFC 5652, PKCS#5, PKCS#7 and RFC 1423 PEM.</a:t>
            </a:r>
          </a:p>
          <a:p>
            <a:pPr>
              <a:spcBef>
                <a:spcPts val="360"/>
              </a:spcBef>
              <a:defRPr sz="2000" b="1"/>
            </a:pPr>
            <a:r>
              <a:t>Bits</a:t>
            </a:r>
            <a:r>
              <a:rPr b="0"/>
              <a:t>. This pads with 0x80 (10000000) followed by zero (null) bytes. Defined in ANSI X.923 and ISO/IEC 9797-1.</a:t>
            </a:r>
          </a:p>
          <a:p>
            <a:pPr>
              <a:spcBef>
                <a:spcPts val="360"/>
              </a:spcBef>
              <a:defRPr sz="2000" b="1"/>
            </a:pPr>
            <a:r>
              <a:t>ZeroLength</a:t>
            </a:r>
            <a:r>
              <a:rPr b="0"/>
              <a:t>. This pads with zeros except for the last byte which is equal to the number (length) of padding bytes.</a:t>
            </a:r>
          </a:p>
          <a:p>
            <a:pPr>
              <a:spcBef>
                <a:spcPts val="360"/>
              </a:spcBef>
              <a:defRPr sz="2000" b="1"/>
            </a:pPr>
            <a:r>
              <a:t>Null</a:t>
            </a:r>
            <a:r>
              <a:rPr b="0"/>
              <a:t>. This pads will NULL bytes. This is only used with ASCII text.</a:t>
            </a:r>
          </a:p>
          <a:p>
            <a:pPr>
              <a:spcBef>
                <a:spcPts val="360"/>
              </a:spcBef>
              <a:defRPr sz="2000" b="1"/>
            </a:pPr>
            <a:r>
              <a:t>Space</a:t>
            </a:r>
            <a:r>
              <a:rPr b="0"/>
              <a:t>. This pads  with spaces. This is only used with ASCII text.</a:t>
            </a:r>
          </a:p>
          <a:p>
            <a:pPr>
              <a:spcBef>
                <a:spcPts val="360"/>
              </a:spcBef>
              <a:defRPr sz="2000" b="1"/>
            </a:pPr>
            <a:r>
              <a:t>Random</a:t>
            </a:r>
            <a:r>
              <a:rPr b="0"/>
              <a:t>. This pads with random bytes with the last byte defined by the number of padding bytes.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Padding"/>
          <p:cNvSpPr txBox="1">
            <a:spLocks noGrp="1"/>
          </p:cNvSpPr>
          <p:nvPr>
            <p:ph type="title" idx="4294967295"/>
          </p:nvPr>
        </p:nvSpPr>
        <p:spPr>
          <a:xfrm>
            <a:off x="868680" y="491490"/>
            <a:ext cx="7406640" cy="8572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dirty="0"/>
              <a:t>Padding</a:t>
            </a:r>
          </a:p>
        </p:txBody>
      </p:sp>
      <p:sp>
        <p:nvSpPr>
          <p:cNvPr id="119" name="After padding (CMS): 68656c6c6f0b0b0b0b0b0b0b0b0b0b0b Cipher (ECB): 0a7ec77951291795bac6690c9e7f4c0d…"/>
          <p:cNvSpPr txBox="1">
            <a:spLocks noGrp="1"/>
          </p:cNvSpPr>
          <p:nvPr>
            <p:ph type="body" idx="4294967295"/>
          </p:nvPr>
        </p:nvSpPr>
        <p:spPr>
          <a:xfrm>
            <a:off x="868680" y="1485900"/>
            <a:ext cx="7406640" cy="339471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spcBef>
                <a:spcPts val="360"/>
              </a:spcBef>
              <a:defRPr sz="2000"/>
            </a:pPr>
            <a:r>
              <a:rPr dirty="0"/>
              <a:t>After padding (CMS): 68656c6c6f</a:t>
            </a:r>
            <a:r>
              <a:rPr lang="en-GB" b="1" dirty="0">
                <a:solidFill>
                  <a:srgbClr val="FF0000"/>
                </a:solidFill>
              </a:rPr>
              <a:t>0b0b0b0b0b0b0b0b0b0b0</a:t>
            </a:r>
            <a:r>
              <a:rPr b="1" dirty="0">
                <a:solidFill>
                  <a:srgbClr val="FF0000"/>
                </a:solidFill>
              </a:rPr>
              <a:t>b</a:t>
            </a:r>
            <a:br>
              <a:rPr dirty="0"/>
            </a:br>
            <a:r>
              <a:rPr dirty="0"/>
              <a:t>Cipher (ECB): 0a7ec77951291795bac6690c9e7f4c0d</a:t>
            </a:r>
          </a:p>
          <a:p>
            <a:pPr>
              <a:spcBef>
                <a:spcPts val="360"/>
              </a:spcBef>
              <a:defRPr sz="2000"/>
            </a:pPr>
            <a:r>
              <a:rPr dirty="0"/>
              <a:t>After padding (Bit): 68656c6c6f8000000000000000000000</a:t>
            </a:r>
            <a:br>
              <a:rPr dirty="0"/>
            </a:br>
            <a:r>
              <a:rPr dirty="0"/>
              <a:t>Cipher (ECB): 731abffc2e3b2c2b5caa9ca2339344f9</a:t>
            </a:r>
          </a:p>
          <a:p>
            <a:pPr>
              <a:spcBef>
                <a:spcPts val="360"/>
              </a:spcBef>
              <a:defRPr sz="2000"/>
            </a:pPr>
            <a:r>
              <a:rPr dirty="0"/>
              <a:t>After padding (</a:t>
            </a:r>
            <a:r>
              <a:rPr dirty="0" err="1"/>
              <a:t>ZeroLen</a:t>
            </a:r>
            <a:r>
              <a:rPr dirty="0"/>
              <a:t>): 68656c6c6f000000000000000000000a</a:t>
            </a:r>
            <a:br>
              <a:rPr dirty="0"/>
            </a:br>
            <a:r>
              <a:rPr dirty="0"/>
              <a:t>Cipher (ECB): d28e2f7e8e44e068732b292bde444245</a:t>
            </a:r>
          </a:p>
          <a:p>
            <a:pPr>
              <a:spcBef>
                <a:spcPts val="360"/>
              </a:spcBef>
              <a:defRPr sz="2000"/>
            </a:pPr>
            <a:r>
              <a:rPr dirty="0"/>
              <a:t>After padding (Null): 68656c6c6f0000000000000000000000</a:t>
            </a:r>
            <a:br>
              <a:rPr dirty="0"/>
            </a:br>
            <a:r>
              <a:rPr dirty="0"/>
              <a:t>Cipher (ECB): 444797422460453d95856eb2a1520ece</a:t>
            </a:r>
          </a:p>
          <a:p>
            <a:pPr>
              <a:spcBef>
                <a:spcPts val="360"/>
              </a:spcBef>
              <a:defRPr sz="2000"/>
            </a:pPr>
            <a:r>
              <a:rPr dirty="0"/>
              <a:t>After padding (Random): 68656c6c6</a:t>
            </a:r>
            <a:r>
              <a:rPr i="1" dirty="0"/>
              <a:t>ffc6ecfd884a38798d62</a:t>
            </a:r>
            <a:r>
              <a:rPr dirty="0"/>
              <a:t>a</a:t>
            </a:r>
            <a:r>
              <a:rPr b="1" dirty="0"/>
              <a:t>0a</a:t>
            </a:r>
            <a:br>
              <a:rPr b="1" dirty="0"/>
            </a:br>
            <a:r>
              <a:rPr dirty="0"/>
              <a:t>Cipher (ECB): c2c88b4364d2c2dc6f2cac9ab73c995d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19D7C2-A0C5-4163-17D0-81048B297630}"/>
              </a:ext>
            </a:extLst>
          </p:cNvPr>
          <p:cNvSpPr txBox="1"/>
          <p:nvPr/>
        </p:nvSpPr>
        <p:spPr>
          <a:xfrm>
            <a:off x="721284" y="5057311"/>
            <a:ext cx="4114800" cy="3416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 defTabSz="822960"/>
            <a:r>
              <a:rPr lang="en-US" sz="1620" dirty="0">
                <a:latin typeface="Calibri"/>
                <a:cs typeface="Calibri"/>
                <a:hlinkClick r:id="rId3"/>
              </a:rPr>
              <a:t>https://asecuritysite.com/hazmat/hashnew28</a:t>
            </a:r>
            <a:r>
              <a:rPr lang="en-US" sz="1620" dirty="0">
                <a:latin typeface="Calibri"/>
                <a:cs typeface="Calibri"/>
              </a:rPr>
              <a:t> </a:t>
            </a:r>
          </a:p>
        </p:txBody>
      </p:sp>
      <p:pic>
        <p:nvPicPr>
          <p:cNvPr id="5" name="Picture 4" descr="A qr code with a black and white background&#10;&#10;Description automatically generated">
            <a:extLst>
              <a:ext uri="{FF2B5EF4-FFF2-40B4-BE49-F238E27FC236}">
                <a16:creationId xmlns:a16="http://schemas.microsoft.com/office/drawing/2014/main" id="{42700674-E51F-1C92-07FA-D65B550D1D1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2887" y="4229100"/>
            <a:ext cx="1143000" cy="1143000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AES"/>
          <p:cNvSpPr txBox="1">
            <a:spLocks noGrp="1"/>
          </p:cNvSpPr>
          <p:nvPr>
            <p:ph type="title" idx="4294967295"/>
          </p:nvPr>
        </p:nvSpPr>
        <p:spPr>
          <a:xfrm>
            <a:off x="3406140" y="491490"/>
            <a:ext cx="4869180" cy="857250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>
                <a:solidFill>
                  <a:srgbClr val="C00000"/>
                </a:solidFill>
              </a:defRPr>
            </a:lvl1pPr>
          </a:lstStyle>
          <a:p>
            <a:r>
              <a:rPr dirty="0"/>
              <a:t>AES</a:t>
            </a:r>
          </a:p>
        </p:txBody>
      </p:sp>
      <p:sp>
        <p:nvSpPr>
          <p:cNvPr id="168" name="Body"/>
          <p:cNvSpPr txBox="1">
            <a:spLocks noGrp="1"/>
          </p:cNvSpPr>
          <p:nvPr>
            <p:ph type="body" idx="4294967295"/>
          </p:nvPr>
        </p:nvSpPr>
        <p:spPr>
          <a:xfrm>
            <a:off x="868680" y="1485900"/>
            <a:ext cx="7406640" cy="339471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pic>
        <p:nvPicPr>
          <p:cNvPr id="169" name="image.png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649" y="397193"/>
            <a:ext cx="2540318" cy="5032058"/>
          </a:xfrm>
          <a:prstGeom prst="rect">
            <a:avLst/>
          </a:prstGeom>
          <a:ln w="12700">
            <a:miter lim="400000"/>
          </a:ln>
        </p:spPr>
      </p:pic>
      <p:pic>
        <p:nvPicPr>
          <p:cNvPr id="170" name="image.pdf" descr="image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58979" y="1625918"/>
            <a:ext cx="5392103" cy="1661637"/>
          </a:xfrm>
          <a:prstGeom prst="rect">
            <a:avLst/>
          </a:prstGeom>
          <a:ln w="12700">
            <a:miter lim="400000"/>
          </a:ln>
        </p:spPr>
      </p:pic>
      <p:pic>
        <p:nvPicPr>
          <p:cNvPr id="171" name="image.png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8977" y="3526155"/>
            <a:ext cx="5412106" cy="1628775"/>
          </a:xfrm>
          <a:prstGeom prst="rect">
            <a:avLst/>
          </a:prstGeom>
          <a:ln w="12700">
            <a:miter lim="400000"/>
          </a:ln>
        </p:spPr>
      </p:pic>
      <p:sp>
        <p:nvSpPr>
          <p:cNvPr id="2" name="Rectangle 1">
            <a:hlinkClick r:id="rId5"/>
            <a:extLst>
              <a:ext uri="{FF2B5EF4-FFF2-40B4-BE49-F238E27FC236}">
                <a16:creationId xmlns:a16="http://schemas.microsoft.com/office/drawing/2014/main" id="{A745B76C-9161-4B45-A0E1-D63BE2F6B1E4}"/>
              </a:ext>
            </a:extLst>
          </p:cNvPr>
          <p:cNvSpPr/>
          <p:nvPr/>
        </p:nvSpPr>
        <p:spPr>
          <a:xfrm>
            <a:off x="7484012" y="863405"/>
            <a:ext cx="902091" cy="332397"/>
          </a:xfrm>
          <a:prstGeom prst="rect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1147" tIns="41147" rIns="41147" bIns="41147" numCol="1" spcCol="38100" rtlCol="0" anchor="t">
            <a:spAutoFit/>
          </a:bodyPr>
          <a:lstStyle/>
          <a:p>
            <a:pPr algn="ctr" defTabSz="822960"/>
            <a:r>
              <a:rPr lang="en-US" sz="1620" dirty="0">
                <a:latin typeface="Calibri"/>
                <a:cs typeface="Calibri"/>
              </a:rPr>
              <a:t>NIST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66EF247-C58A-7AC1-43E9-25D0940D8E3D}"/>
              </a:ext>
            </a:extLst>
          </p:cNvPr>
          <p:cNvSpPr txBox="1"/>
          <p:nvPr/>
        </p:nvSpPr>
        <p:spPr>
          <a:xfrm>
            <a:off x="3204245" y="775543"/>
            <a:ext cx="4572000" cy="923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10 rounds for 128-bit keys.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12 rounds for 192-bit keys.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14 rounds for 256-bit keys.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itle"/>
          <p:cNvSpPr txBox="1">
            <a:spLocks noGrp="1"/>
          </p:cNvSpPr>
          <p:nvPr>
            <p:ph type="title" idx="4294967295"/>
          </p:nvPr>
        </p:nvSpPr>
        <p:spPr>
          <a:xfrm>
            <a:off x="868680" y="491490"/>
            <a:ext cx="7406640" cy="857250"/>
          </a:xfrm>
          <a:prstGeom prst="rect">
            <a:avLst/>
          </a:prstGeom>
        </p:spPr>
        <p:txBody>
          <a:bodyPr>
            <a:normAutofit/>
          </a:bodyPr>
          <a:lstStyle/>
          <a:p>
            <a:endParaRPr/>
          </a:p>
        </p:txBody>
      </p:sp>
      <p:sp>
        <p:nvSpPr>
          <p:cNvPr id="105" name="Body"/>
          <p:cNvSpPr txBox="1">
            <a:spLocks noGrp="1"/>
          </p:cNvSpPr>
          <p:nvPr>
            <p:ph type="body" idx="4294967295"/>
          </p:nvPr>
        </p:nvSpPr>
        <p:spPr>
          <a:xfrm>
            <a:off x="868680" y="1485900"/>
            <a:ext cx="7406640" cy="339471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/>
          </a:p>
        </p:txBody>
      </p:sp>
      <p:sp>
        <p:nvSpPr>
          <p:cNvPr id="7" name="Shape 345">
            <a:extLst>
              <a:ext uri="{FF2B5EF4-FFF2-40B4-BE49-F238E27FC236}">
                <a16:creationId xmlns:a16="http://schemas.microsoft.com/office/drawing/2014/main" id="{570B7E13-1230-0144-91F1-6D13731471E5}"/>
              </a:ext>
            </a:extLst>
          </p:cNvPr>
          <p:cNvSpPr txBox="1">
            <a:spLocks/>
          </p:cNvSpPr>
          <p:nvPr/>
        </p:nvSpPr>
        <p:spPr>
          <a:xfrm>
            <a:off x="0" y="273509"/>
            <a:ext cx="7886700" cy="649700"/>
          </a:xfrm>
          <a:prstGeom prst="rect">
            <a:avLst/>
          </a:prstGeom>
        </p:spPr>
        <p:txBody>
          <a:bodyPr>
            <a:normAutofit/>
          </a:bodyPr>
          <a:lstStyle>
            <a:lvl1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1pPr>
            <a:lvl2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2pPr>
            <a:lvl3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3pPr>
            <a:lvl4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4pPr>
            <a:lvl5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5pPr>
            <a:lvl6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6pPr>
            <a:lvl7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7pPr>
            <a:lvl8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8pPr>
            <a:lvl9pPr marL="0" marR="0" indent="0" algn="l" defTabSz="914400" rtl="0" latinLnBrk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6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Calibri Light"/>
                <a:ea typeface="Calibri Light"/>
                <a:cs typeface="Calibri Light"/>
                <a:sym typeface="Calibri Light"/>
              </a:defRPr>
            </a:lvl9pPr>
          </a:lstStyle>
          <a:p>
            <a:pPr hangingPunct="1"/>
            <a:r>
              <a:rPr lang="en-US" sz="3000" b="1" dirty="0"/>
              <a:t>Symmetric Key – Stream cipher</a:t>
            </a:r>
            <a:endParaRPr lang="en-US" sz="3000" dirty="0"/>
          </a:p>
        </p:txBody>
      </p:sp>
      <p:pic>
        <p:nvPicPr>
          <p:cNvPr id="9220" name="Picture 4">
            <a:extLst>
              <a:ext uri="{FF2B5EF4-FFF2-40B4-BE49-F238E27FC236}">
                <a16:creationId xmlns:a16="http://schemas.microsoft.com/office/drawing/2014/main" id="{02759F55-6B57-8B48-8266-8DE45D1198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89385"/>
            <a:ext cx="9144000" cy="4639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95A5C2B1-E1B4-E042-A83F-1478A51B7284}"/>
              </a:ext>
            </a:extLst>
          </p:cNvPr>
          <p:cNvSpPr/>
          <p:nvPr/>
        </p:nvSpPr>
        <p:spPr>
          <a:xfrm>
            <a:off x="0" y="5152251"/>
            <a:ext cx="435151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3"/>
              </a:rPr>
              <a:t>https://</a:t>
            </a:r>
            <a:r>
              <a:rPr lang="en-US" dirty="0" err="1">
                <a:hlinkClick r:id="rId3"/>
              </a:rPr>
              <a:t>asecuritysite.com</a:t>
            </a:r>
            <a:r>
              <a:rPr lang="en-US" dirty="0">
                <a:hlinkClick r:id="rId3"/>
              </a:rPr>
              <a:t>/</a:t>
            </a:r>
            <a:r>
              <a:rPr lang="en-US" dirty="0" err="1">
                <a:hlinkClick r:id="rId3"/>
              </a:rPr>
              <a:t>golang</a:t>
            </a:r>
            <a:r>
              <a:rPr lang="en-US" dirty="0">
                <a:hlinkClick r:id="rId3"/>
              </a:rPr>
              <a:t>/</a:t>
            </a:r>
            <a:r>
              <a:rPr lang="en-US" dirty="0" err="1">
                <a:hlinkClick r:id="rId3"/>
              </a:rPr>
              <a:t>go_chacha</a:t>
            </a:r>
            <a:endParaRPr lang="en-US" dirty="0"/>
          </a:p>
        </p:txBody>
      </p:sp>
      <p:pic>
        <p:nvPicPr>
          <p:cNvPr id="4" name="Picture 3" descr="A screenshot of a document&#10;&#10;Description automatically generated">
            <a:extLst>
              <a:ext uri="{FF2B5EF4-FFF2-40B4-BE49-F238E27FC236}">
                <a16:creationId xmlns:a16="http://schemas.microsoft.com/office/drawing/2014/main" id="{96B2A8ED-702B-0393-3357-7973AC5C64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7036" y="1646635"/>
            <a:ext cx="4198933" cy="3711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52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A9A360-E953-61FD-2DE0-A69F614B0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Body">
            <a:extLst>
              <a:ext uri="{FF2B5EF4-FFF2-40B4-BE49-F238E27FC236}">
                <a16:creationId xmlns:a16="http://schemas.microsoft.com/office/drawing/2014/main" id="{57FDD22A-7D76-B31A-CFF3-64DD4AD754C0}"/>
              </a:ext>
            </a:extLst>
          </p:cNvPr>
          <p:cNvSpPr txBox="1">
            <a:spLocks noGrp="1"/>
          </p:cNvSpPr>
          <p:nvPr>
            <p:ph type="body" idx="4294967295"/>
          </p:nvPr>
        </p:nvSpPr>
        <p:spPr>
          <a:xfrm>
            <a:off x="868680" y="1485900"/>
            <a:ext cx="7406640" cy="3394710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buChar char="•"/>
            </a:pPr>
            <a:endParaRPr dirty="0"/>
          </a:p>
        </p:txBody>
      </p:sp>
      <p:pic>
        <p:nvPicPr>
          <p:cNvPr id="3" name="Picture 2" descr="A screenshot of a computer program&#10;&#10;Description automatically generated">
            <a:hlinkClick r:id="rId2"/>
            <a:extLst>
              <a:ext uri="{FF2B5EF4-FFF2-40B4-BE49-F238E27FC236}">
                <a16:creationId xmlns:a16="http://schemas.microsoft.com/office/drawing/2014/main" id="{4B9C70F7-024D-BBB9-ABB9-B5904790B3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8680" y="1444391"/>
            <a:ext cx="6995160" cy="2982243"/>
          </a:xfrm>
          <a:prstGeom prst="rect">
            <a:avLst/>
          </a:prstGeom>
        </p:spPr>
      </p:pic>
      <p:sp>
        <p:nvSpPr>
          <p:cNvPr id="4" name="Padding">
            <a:extLst>
              <a:ext uri="{FF2B5EF4-FFF2-40B4-BE49-F238E27FC236}">
                <a16:creationId xmlns:a16="http://schemas.microsoft.com/office/drawing/2014/main" id="{79473F5F-FC7E-406D-1763-8D8BA3236E97}"/>
              </a:ext>
            </a:extLst>
          </p:cNvPr>
          <p:cNvSpPr txBox="1">
            <a:spLocks/>
          </p:cNvSpPr>
          <p:nvPr/>
        </p:nvSpPr>
        <p:spPr>
          <a:xfrm>
            <a:off x="1005840" y="628650"/>
            <a:ext cx="7406640" cy="8572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1147" rIns="41147" anchor="ctr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C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0" marR="0" indent="4572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0" marR="0" indent="9144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0" marR="0" indent="13716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0" marR="0" indent="1828800" algn="ctr" defTabSz="914400" rtl="0" latinLnBrk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defTabSz="822960" hangingPunct="1"/>
            <a:r>
              <a:rPr lang="en-GB" sz="3960" dirty="0">
                <a:latin typeface="Calibri"/>
                <a:cs typeface="Calibri"/>
              </a:rPr>
              <a:t>Cipher Cracking</a:t>
            </a:r>
          </a:p>
        </p:txBody>
      </p:sp>
      <p:pic>
        <p:nvPicPr>
          <p:cNvPr id="6" name="Picture 5" descr="A qr code on a white background&#10;&#10;Description automatically generated">
            <a:extLst>
              <a:ext uri="{FF2B5EF4-FFF2-40B4-BE49-F238E27FC236}">
                <a16:creationId xmlns:a16="http://schemas.microsoft.com/office/drawing/2014/main" id="{6B5F5AFA-4590-3E1A-D588-3BA4514A0BA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57508" y="399740"/>
            <a:ext cx="1143000" cy="1143000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2F30CB6-44EB-6483-A830-8072F252698D}"/>
              </a:ext>
            </a:extLst>
          </p:cNvPr>
          <p:cNvSpPr txBox="1"/>
          <p:nvPr/>
        </p:nvSpPr>
        <p:spPr>
          <a:xfrm>
            <a:off x="260131" y="5086350"/>
            <a:ext cx="4572000" cy="369332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https://asecuritysite.com/aes/hashnew4a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4324650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8C24032-F092-7641-A360-EC8FC455F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923209"/>
            <a:ext cx="7716187" cy="3179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hape 345">
            <a:extLst>
              <a:ext uri="{FF2B5EF4-FFF2-40B4-BE49-F238E27FC236}">
                <a16:creationId xmlns:a16="http://schemas.microsoft.com/office/drawing/2014/main" id="{E4690FC7-F7C6-204E-8FF8-518B852D9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3509"/>
            <a:ext cx="7886700" cy="6497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sz="3000" b="1" dirty="0">
                <a:solidFill>
                  <a:srgbClr val="C00000"/>
                </a:solidFill>
              </a:rPr>
              <a:t>Symmetric Key - Modes</a:t>
            </a:r>
            <a:endParaRPr sz="3000" dirty="0">
              <a:solidFill>
                <a:srgbClr val="C00000"/>
              </a:solidFill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4A0C450-15D3-4045-9ED2-B80F8ED0F33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4F1A61E0-754A-C24F-99FD-554D12F21F27}"/>
              </a:ext>
            </a:extLst>
          </p:cNvPr>
          <p:cNvSpPr txBox="1">
            <a:spLocks/>
          </p:cNvSpPr>
          <p:nvPr/>
        </p:nvSpPr>
        <p:spPr>
          <a:xfrm>
            <a:off x="676275" y="4289775"/>
            <a:ext cx="6858000" cy="1241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34289" rIns="34289">
            <a:normAutofit/>
          </a:bodyPr>
          <a:lstStyle>
            <a:lvl1pPr marL="0" marR="0" indent="0" algn="ctr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1pPr>
            <a:lvl2pPr marL="0" marR="0" indent="457200" algn="ctr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2pPr>
            <a:lvl3pPr marL="0" marR="0" indent="914400" algn="ctr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3pPr>
            <a:lvl4pPr marL="0" marR="0" indent="1371600" algn="ctr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4pPr>
            <a:lvl5pPr marL="0" marR="0" indent="1828800" algn="ctr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4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5pPr>
            <a:lvl6pPr marL="26416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6pPr>
            <a:lvl7pPr marL="30988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7pPr>
            <a:lvl8pPr marL="35560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8pPr>
            <a:lvl9pPr marL="4013200" marR="0" indent="-355600" algn="l" defTabSz="914400" rtl="0" latinLnBrk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28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+mn-lt"/>
                <a:ea typeface="+mn-ea"/>
                <a:cs typeface="+mn-cs"/>
                <a:sym typeface="Calibri"/>
              </a:defRPr>
            </a:lvl9pPr>
          </a:lstStyle>
          <a:p>
            <a:pPr algn="l" hangingPunct="1"/>
            <a:r>
              <a:rPr lang="en-US" sz="1800"/>
              <a:t>AES Block cipher modes: ECB (No salt), CBC (Cipher Block Chaining).</a:t>
            </a:r>
          </a:p>
          <a:p>
            <a:pPr algn="l" hangingPunct="1"/>
            <a:r>
              <a:rPr lang="en-US" sz="1800"/>
              <a:t>AES Stream modes: CFB (Cipher Feedback), OFB (Output Feedback), CTR (Counter), GCM (Galois Counter Mode).  </a:t>
            </a:r>
          </a:p>
          <a:p>
            <a:pPr algn="l" hangingPunct="1"/>
            <a:endParaRPr lang="en-US" sz="1800"/>
          </a:p>
          <a:p>
            <a:pPr algn="l" hangingPunct="1"/>
            <a:endParaRPr lang="en-US" sz="1800" dirty="0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89ABB92-5291-AA49-A6C1-88967D3AD744}"/>
              </a:ext>
            </a:extLst>
          </p:cNvPr>
          <p:cNvSpPr/>
          <p:nvPr/>
        </p:nvSpPr>
        <p:spPr>
          <a:xfrm>
            <a:off x="0" y="5152251"/>
            <a:ext cx="46715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4"/>
              </a:rPr>
              <a:t>https://</a:t>
            </a:r>
            <a:r>
              <a:rPr lang="en-US" dirty="0" err="1">
                <a:hlinkClick r:id="rId4"/>
              </a:rPr>
              <a:t>asecuritysite.com</a:t>
            </a:r>
            <a:r>
              <a:rPr lang="en-US" dirty="0">
                <a:hlinkClick r:id="rId4"/>
              </a:rPr>
              <a:t>/</a:t>
            </a:r>
            <a:r>
              <a:rPr lang="en-US" dirty="0" err="1">
                <a:hlinkClick r:id="rId4"/>
              </a:rPr>
              <a:t>golang</a:t>
            </a:r>
            <a:r>
              <a:rPr lang="en-US" dirty="0">
                <a:hlinkClick r:id="rId4"/>
              </a:rPr>
              <a:t>/</a:t>
            </a:r>
            <a:r>
              <a:rPr lang="en-US" dirty="0" err="1">
                <a:hlinkClick r:id="rId4"/>
              </a:rPr>
              <a:t>go_symmetric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918723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28D16-9377-2049-9477-C65CCEADFFA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676275" y="4289775"/>
            <a:ext cx="6858000" cy="1241822"/>
          </a:xfrm>
        </p:spPr>
        <p:txBody>
          <a:bodyPr/>
          <a:lstStyle/>
          <a:p>
            <a:pPr algn="l"/>
            <a:r>
              <a:rPr lang="en-US" dirty="0"/>
              <a:t>AES Block cipher modes: ECB (No salt), CBC (Cipher Block Chaining).</a:t>
            </a:r>
          </a:p>
          <a:p>
            <a:pPr algn="l"/>
            <a:r>
              <a:rPr lang="en-US" dirty="0"/>
              <a:t>AES Stream modes: CFB (Cipher Feedback), OFB (Output Feedback), CTR (Counter), GCM (Galois Counter Mode).  </a:t>
            </a:r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sp>
        <p:nvSpPr>
          <p:cNvPr id="8" name="Shape 345">
            <a:extLst>
              <a:ext uri="{FF2B5EF4-FFF2-40B4-BE49-F238E27FC236}">
                <a16:creationId xmlns:a16="http://schemas.microsoft.com/office/drawing/2014/main" id="{E4690FC7-F7C6-204E-8FF8-518B852D9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3509"/>
            <a:ext cx="7886700" cy="6497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sz="3000" b="1" dirty="0">
                <a:solidFill>
                  <a:srgbClr val="C00000"/>
                </a:solidFill>
              </a:rPr>
              <a:t>Symmetric Key – Electronic Code Code (ECB)</a:t>
            </a:r>
            <a:endParaRPr sz="3000" dirty="0">
              <a:solidFill>
                <a:srgbClr val="C00000"/>
              </a:solidFill>
            </a:endParaRPr>
          </a:p>
        </p:txBody>
      </p:sp>
      <p:pic>
        <p:nvPicPr>
          <p:cNvPr id="19458" name="Picture 2">
            <a:extLst>
              <a:ext uri="{FF2B5EF4-FFF2-40B4-BE49-F238E27FC236}">
                <a16:creationId xmlns:a16="http://schemas.microsoft.com/office/drawing/2014/main" id="{3ACD71C5-7CFB-E749-82D6-BF849303AC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5" y="923209"/>
            <a:ext cx="6553200" cy="32672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F44D0EFF-A69B-6644-823C-707538697194}"/>
              </a:ext>
            </a:extLst>
          </p:cNvPr>
          <p:cNvSpPr/>
          <p:nvPr/>
        </p:nvSpPr>
        <p:spPr>
          <a:xfrm>
            <a:off x="0" y="5152251"/>
            <a:ext cx="44313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4"/>
              </a:rPr>
              <a:t>https://asecuritysite.com/hazmat/hashnew4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7827670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28D16-9377-2049-9477-C65CCEADFFA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676275" y="4289775"/>
            <a:ext cx="6858000" cy="1241822"/>
          </a:xfrm>
        </p:spPr>
        <p:txBody>
          <a:bodyPr/>
          <a:lstStyle/>
          <a:p>
            <a:pPr algn="l"/>
            <a:r>
              <a:rPr lang="en-US" dirty="0"/>
              <a:t>AES Block cipher modes: ECB (No salt), CBC (Cipher Block Chaining).</a:t>
            </a:r>
          </a:p>
          <a:p>
            <a:pPr algn="l"/>
            <a:r>
              <a:rPr lang="en-US" dirty="0"/>
              <a:t>AES Stream modes: CFB (Cipher Feedback), OFB (Output Feedback), CTR (Counter), GCM (Galois Counter Mode).  </a:t>
            </a:r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sp>
        <p:nvSpPr>
          <p:cNvPr id="8" name="Shape 345">
            <a:extLst>
              <a:ext uri="{FF2B5EF4-FFF2-40B4-BE49-F238E27FC236}">
                <a16:creationId xmlns:a16="http://schemas.microsoft.com/office/drawing/2014/main" id="{E4690FC7-F7C6-204E-8FF8-518B852D9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3509"/>
            <a:ext cx="7886700" cy="6497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sz="3000" b="1" dirty="0">
                <a:solidFill>
                  <a:srgbClr val="C00000"/>
                </a:solidFill>
              </a:rPr>
              <a:t>Symmetric Key – Cipher Block Chaining (CBC)</a:t>
            </a:r>
            <a:endParaRPr sz="3000" dirty="0">
              <a:solidFill>
                <a:srgbClr val="C00000"/>
              </a:solidFill>
            </a:endParaRPr>
          </a:p>
        </p:txBody>
      </p:sp>
      <p:pic>
        <p:nvPicPr>
          <p:cNvPr id="20482" name="Picture 2">
            <a:extLst>
              <a:ext uri="{FF2B5EF4-FFF2-40B4-BE49-F238E27FC236}">
                <a16:creationId xmlns:a16="http://schemas.microsoft.com/office/drawing/2014/main" id="{5E13F4E6-4878-AE43-B514-D7991E5D91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0459" y="923209"/>
            <a:ext cx="5328773" cy="32106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90B1B5E-89D1-104D-929B-E21D33943947}"/>
              </a:ext>
            </a:extLst>
          </p:cNvPr>
          <p:cNvSpPr/>
          <p:nvPr/>
        </p:nvSpPr>
        <p:spPr>
          <a:xfrm>
            <a:off x="0" y="5152251"/>
            <a:ext cx="46715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4"/>
              </a:rPr>
              <a:t>https://</a:t>
            </a:r>
            <a:r>
              <a:rPr lang="en-US" dirty="0" err="1">
                <a:hlinkClick r:id="rId4"/>
              </a:rPr>
              <a:t>asecuritysite.com</a:t>
            </a:r>
            <a:r>
              <a:rPr lang="en-US" dirty="0">
                <a:hlinkClick r:id="rId4"/>
              </a:rPr>
              <a:t>/</a:t>
            </a:r>
            <a:r>
              <a:rPr lang="en-US" dirty="0" err="1">
                <a:hlinkClick r:id="rId4"/>
              </a:rPr>
              <a:t>golang</a:t>
            </a:r>
            <a:r>
              <a:rPr lang="en-US" dirty="0">
                <a:hlinkClick r:id="rId4"/>
              </a:rPr>
              <a:t>/</a:t>
            </a:r>
            <a:r>
              <a:rPr lang="en-US" dirty="0" err="1">
                <a:hlinkClick r:id="rId4"/>
              </a:rPr>
              <a:t>go_symmetric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97684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28D16-9377-2049-9477-C65CCEADFFA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xfrm>
            <a:off x="676275" y="4289775"/>
            <a:ext cx="6858000" cy="1241822"/>
          </a:xfrm>
        </p:spPr>
        <p:txBody>
          <a:bodyPr/>
          <a:lstStyle/>
          <a:p>
            <a:pPr algn="l"/>
            <a:r>
              <a:rPr lang="en-US" dirty="0"/>
              <a:t>AES Block cipher modes: ECB (No salt), CBC (Cipher Block Chaining).</a:t>
            </a:r>
          </a:p>
          <a:p>
            <a:pPr algn="l"/>
            <a:r>
              <a:rPr lang="en-US" dirty="0"/>
              <a:t>AES Stream modes: CFB (Cipher Feedback), OFB (Output Feedback), CTR (Counter), GCM (Galois Counter Mode).  </a:t>
            </a:r>
          </a:p>
          <a:p>
            <a:pPr algn="l"/>
            <a:endParaRPr lang="en-US" dirty="0"/>
          </a:p>
          <a:p>
            <a:pPr algn="l"/>
            <a:endParaRPr lang="en-US" dirty="0"/>
          </a:p>
        </p:txBody>
      </p:sp>
      <p:sp>
        <p:nvSpPr>
          <p:cNvPr id="8" name="Shape 345">
            <a:extLst>
              <a:ext uri="{FF2B5EF4-FFF2-40B4-BE49-F238E27FC236}">
                <a16:creationId xmlns:a16="http://schemas.microsoft.com/office/drawing/2014/main" id="{E4690FC7-F7C6-204E-8FF8-518B852D9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25" y="511117"/>
            <a:ext cx="8705850" cy="649700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algn="l"/>
            <a:r>
              <a:rPr lang="en-US" sz="3000" b="1" dirty="0">
                <a:solidFill>
                  <a:srgbClr val="C00000"/>
                </a:solidFill>
              </a:rPr>
              <a:t>Authenticated Encryption with Additional Data (AEAD)</a:t>
            </a:r>
            <a:endParaRPr sz="3000" dirty="0">
              <a:solidFill>
                <a:srgbClr val="C00000"/>
              </a:solidFill>
            </a:endParaRPr>
          </a:p>
        </p:txBody>
      </p:sp>
      <p:pic>
        <p:nvPicPr>
          <p:cNvPr id="20484" name="Picture 4">
            <a:extLst>
              <a:ext uri="{FF2B5EF4-FFF2-40B4-BE49-F238E27FC236}">
                <a16:creationId xmlns:a16="http://schemas.microsoft.com/office/drawing/2014/main" id="{88C154EE-AE0B-5342-821A-125C7E6FBC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3450" y="1160817"/>
            <a:ext cx="6858000" cy="30887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F59AC6BF-3F7E-B045-BE43-E1E7B3A22C30}"/>
              </a:ext>
            </a:extLst>
          </p:cNvPr>
          <p:cNvSpPr/>
          <p:nvPr/>
        </p:nvSpPr>
        <p:spPr>
          <a:xfrm>
            <a:off x="0" y="5152251"/>
            <a:ext cx="46715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4"/>
              </a:rPr>
              <a:t>https://</a:t>
            </a:r>
            <a:r>
              <a:rPr lang="en-US" dirty="0" err="1">
                <a:hlinkClick r:id="rId4"/>
              </a:rPr>
              <a:t>asecuritysite.com</a:t>
            </a:r>
            <a:r>
              <a:rPr lang="en-US" dirty="0">
                <a:hlinkClick r:id="rId4"/>
              </a:rPr>
              <a:t>/</a:t>
            </a:r>
            <a:r>
              <a:rPr lang="en-US" dirty="0" err="1">
                <a:hlinkClick r:id="rId4"/>
              </a:rPr>
              <a:t>golang</a:t>
            </a:r>
            <a:r>
              <a:rPr lang="en-US" dirty="0">
                <a:hlinkClick r:id="rId4"/>
              </a:rPr>
              <a:t>/</a:t>
            </a:r>
            <a:r>
              <a:rPr lang="en-US" dirty="0" err="1">
                <a:hlinkClick r:id="rId4"/>
              </a:rPr>
              <a:t>go_symmetric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20505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68C24032-F092-7641-A360-EC8FC455F1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0611" y="642605"/>
            <a:ext cx="7716187" cy="3179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28D16-9377-2049-9477-C65CCEADFFA7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hape 345">
            <a:extLst>
              <a:ext uri="{FF2B5EF4-FFF2-40B4-BE49-F238E27FC236}">
                <a16:creationId xmlns:a16="http://schemas.microsoft.com/office/drawing/2014/main" id="{E4690FC7-F7C6-204E-8FF8-518B852D9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73509"/>
            <a:ext cx="7886700" cy="649700"/>
          </a:xfrm>
          <a:prstGeom prst="rect">
            <a:avLst/>
          </a:prstGeom>
        </p:spPr>
        <p:txBody>
          <a:bodyPr>
            <a:normAutofit/>
          </a:bodyPr>
          <a:lstStyle/>
          <a:p>
            <a:pPr algn="l"/>
            <a:r>
              <a:rPr lang="en-US" sz="3000" b="1" dirty="0">
                <a:solidFill>
                  <a:srgbClr val="C00000"/>
                </a:solidFill>
              </a:rPr>
              <a:t>Symmetric Key – GCM (Galois Counter Mode)</a:t>
            </a:r>
            <a:endParaRPr sz="3000" dirty="0">
              <a:solidFill>
                <a:srgbClr val="C00000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7DF9F7B-3988-8B4E-B0FE-991C062BAFB0}"/>
              </a:ext>
            </a:extLst>
          </p:cNvPr>
          <p:cNvSpPr/>
          <p:nvPr/>
        </p:nvSpPr>
        <p:spPr>
          <a:xfrm>
            <a:off x="1" y="5152251"/>
            <a:ext cx="454836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>
                <a:hlinkClick r:id="rId4"/>
              </a:rPr>
              <a:t>https://asecuritysite.com/hazmat/hashnew21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5041736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Title 1">
            <a:extLst>
              <a:ext uri="{FF2B5EF4-FFF2-40B4-BE49-F238E27FC236}">
                <a16:creationId xmlns:a16="http://schemas.microsoft.com/office/drawing/2014/main" id="{DD43DCFD-328F-0F61-DB9C-1B7674A4E1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25700"/>
            <a:ext cx="5327650" cy="952500"/>
          </a:xfrm>
        </p:spPr>
        <p:txBody>
          <a:bodyPr/>
          <a:lstStyle/>
          <a:p>
            <a:pPr algn="l"/>
            <a:r>
              <a:rPr lang="en-US" altLang="en-US" b="1">
                <a:solidFill>
                  <a:srgbClr val="C00000"/>
                </a:solidFill>
              </a:rPr>
              <a:t>Symmetric Key</a:t>
            </a:r>
            <a:br>
              <a:rPr lang="en-US" altLang="en-US" b="1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Basics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Block or Stream?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Secret Key Methods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 b="1">
                <a:solidFill>
                  <a:srgbClr val="C00000"/>
                </a:solidFill>
              </a:rPr>
              <a:t>Salting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AES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Key Entropy</a:t>
            </a:r>
            <a:br>
              <a:rPr lang="en-US" altLang="en-US" sz="2000" b="1">
                <a:solidFill>
                  <a:srgbClr val="C00000"/>
                </a:solidFill>
              </a:rPr>
            </a:br>
            <a:br>
              <a:rPr lang="en-US" altLang="en-US" b="1">
                <a:solidFill>
                  <a:srgbClr val="C00000"/>
                </a:solidFill>
              </a:rPr>
            </a:br>
            <a:r>
              <a:rPr lang="en-US" altLang="en-US" sz="3000" b="1"/>
              <a:t>Prof Bill Buchanan</a:t>
            </a:r>
            <a:br>
              <a:rPr lang="en-US" altLang="en-US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https://asecuritysite.com/symmetric</a:t>
            </a:r>
          </a:p>
        </p:txBody>
      </p:sp>
      <p:pic>
        <p:nvPicPr>
          <p:cNvPr id="2" name="Content Placeholder 3" descr="Text, whiteboard&#10;&#10;Description automatically generated">
            <a:extLst>
              <a:ext uri="{FF2B5EF4-FFF2-40B4-BE49-F238E27FC236}">
                <a16:creationId xmlns:a16="http://schemas.microsoft.com/office/drawing/2014/main" id="{59EAC7AE-11DB-01D9-1E93-6AF16898BA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1057563"/>
            <a:ext cx="3540200" cy="359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Title 1">
            <a:extLst>
              <a:ext uri="{FF2B5EF4-FFF2-40B4-BE49-F238E27FC236}">
                <a16:creationId xmlns:a16="http://schemas.microsoft.com/office/drawing/2014/main" id="{58B37C07-8BB2-EF71-DDFA-C9B249D0A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65538" name="Content Placeholder 2">
            <a:extLst>
              <a:ext uri="{FF2B5EF4-FFF2-40B4-BE49-F238E27FC236}">
                <a16:creationId xmlns:a16="http://schemas.microsoft.com/office/drawing/2014/main" id="{1E2905FA-7224-4C3E-3FFC-5D95F47B48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pic>
        <p:nvPicPr>
          <p:cNvPr id="65539" name="Picture 2">
            <a:extLst>
              <a:ext uri="{FF2B5EF4-FFF2-40B4-BE49-F238E27FC236}">
                <a16:creationId xmlns:a16="http://schemas.microsoft.com/office/drawing/2014/main" id="{DCEC3151-2D5D-ED57-0D00-A569B3BB92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102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med"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Title 1">
            <a:extLst>
              <a:ext uri="{FF2B5EF4-FFF2-40B4-BE49-F238E27FC236}">
                <a16:creationId xmlns:a16="http://schemas.microsoft.com/office/drawing/2014/main" id="{A36FA3B6-20B5-23DD-3C19-322F946B4D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67586" name="Content Placeholder 2">
            <a:extLst>
              <a:ext uri="{FF2B5EF4-FFF2-40B4-BE49-F238E27FC236}">
                <a16:creationId xmlns:a16="http://schemas.microsoft.com/office/drawing/2014/main" id="{1B3F6BB4-436C-4CAD-83C6-3B60F1889F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pic>
        <p:nvPicPr>
          <p:cNvPr id="67587" name="Picture 2">
            <a:extLst>
              <a:ext uri="{FF2B5EF4-FFF2-40B4-BE49-F238E27FC236}">
                <a16:creationId xmlns:a16="http://schemas.microsoft.com/office/drawing/2014/main" id="{FA25FC89-5E43-0964-D492-79B6EA3C2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26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med">
    <p:fade/>
  </p:transition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Title 1">
            <a:extLst>
              <a:ext uri="{FF2B5EF4-FFF2-40B4-BE49-F238E27FC236}">
                <a16:creationId xmlns:a16="http://schemas.microsoft.com/office/drawing/2014/main" id="{1060D270-9DE6-1810-FD65-6223A72EA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sp>
        <p:nvSpPr>
          <p:cNvPr id="69634" name="Content Placeholder 2">
            <a:extLst>
              <a:ext uri="{FF2B5EF4-FFF2-40B4-BE49-F238E27FC236}">
                <a16:creationId xmlns:a16="http://schemas.microsoft.com/office/drawing/2014/main" id="{E5DC1135-2D95-A3E2-394F-28BD5D1DB7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US"/>
          </a:p>
        </p:txBody>
      </p:sp>
      <p:pic>
        <p:nvPicPr>
          <p:cNvPr id="69635" name="Picture 2">
            <a:extLst>
              <a:ext uri="{FF2B5EF4-FFF2-40B4-BE49-F238E27FC236}">
                <a16:creationId xmlns:a16="http://schemas.microsoft.com/office/drawing/2014/main" id="{1DFC7AAD-C729-7A6F-AFEF-8D021C01FE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custDataLst>
      <p:tags r:id="rId1"/>
    </p:custDataLst>
  </p:cSld>
  <p:clrMapOvr>
    <a:masterClrMapping/>
  </p:clrMapOvr>
  <p:transition spd="med">
    <p:fade/>
  </p:transition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Title 1">
            <a:extLst>
              <a:ext uri="{FF2B5EF4-FFF2-40B4-BE49-F238E27FC236}">
                <a16:creationId xmlns:a16="http://schemas.microsoft.com/office/drawing/2014/main" id="{71493B1D-D049-8EBF-1C3D-671D97EFB3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1682" name="Content Placeholder 2">
            <a:extLst>
              <a:ext uri="{FF2B5EF4-FFF2-40B4-BE49-F238E27FC236}">
                <a16:creationId xmlns:a16="http://schemas.microsoft.com/office/drawing/2014/main" id="{1CEA654D-F185-491E-29C2-918120C8E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altLang="en-US"/>
          </a:p>
        </p:txBody>
      </p:sp>
      <p:sp>
        <p:nvSpPr>
          <p:cNvPr id="71683" name="Rectangle 2">
            <a:extLst>
              <a:ext uri="{FF2B5EF4-FFF2-40B4-BE49-F238E27FC236}">
                <a16:creationId xmlns:a16="http://schemas.microsoft.com/office/drawing/2014/main" id="{F5ECB574-65A5-A787-C646-08B916A7C7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11968163" cy="46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endParaRPr lang="en-US" altLang="en-US" sz="1800"/>
          </a:p>
        </p:txBody>
      </p:sp>
      <p:graphicFrame>
        <p:nvGraphicFramePr>
          <p:cNvPr id="71684" name="Object 4">
            <a:extLst>
              <a:ext uri="{FF2B5EF4-FFF2-40B4-BE49-F238E27FC236}">
                <a16:creationId xmlns:a16="http://schemas.microsoft.com/office/drawing/2014/main" id="{AA6539EC-7E4F-3893-B8D1-3296440FDAAE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" y="163513"/>
          <a:ext cx="6921500" cy="552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0375900" imgH="8255000" progId="Visio.Drawing.15">
                  <p:embed/>
                </p:oleObj>
              </mc:Choice>
              <mc:Fallback>
                <p:oleObj r:id="rId3" imgW="10375900" imgH="8255000" progId="Visio.Drawing.15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" y="163513"/>
                        <a:ext cx="6921500" cy="552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Title 1">
            <a:extLst>
              <a:ext uri="{FF2B5EF4-FFF2-40B4-BE49-F238E27FC236}">
                <a16:creationId xmlns:a16="http://schemas.microsoft.com/office/drawing/2014/main" id="{ED1F550D-D2E3-0697-4F44-0C73F8DF61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25700"/>
            <a:ext cx="5327650" cy="952500"/>
          </a:xfrm>
        </p:spPr>
        <p:txBody>
          <a:bodyPr/>
          <a:lstStyle/>
          <a:p>
            <a:pPr algn="l"/>
            <a:r>
              <a:rPr lang="en-US" altLang="en-US" b="1">
                <a:solidFill>
                  <a:srgbClr val="C00000"/>
                </a:solidFill>
              </a:rPr>
              <a:t>Symmetric Key</a:t>
            </a:r>
            <a:br>
              <a:rPr lang="en-US" altLang="en-US" b="1">
                <a:solidFill>
                  <a:srgbClr val="C00000"/>
                </a:solidFill>
              </a:rPr>
            </a:br>
            <a:br>
              <a:rPr lang="en-US" altLang="en-US" b="1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Basics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Block or Stream?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Secret Key Methods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Salting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AES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 b="1">
                <a:solidFill>
                  <a:srgbClr val="C00000"/>
                </a:solidFill>
              </a:rPr>
              <a:t>Key Entropy</a:t>
            </a:r>
            <a:br>
              <a:rPr lang="en-US" altLang="en-US" sz="2000" b="1">
                <a:solidFill>
                  <a:srgbClr val="C00000"/>
                </a:solidFill>
              </a:rPr>
            </a:br>
            <a:br>
              <a:rPr lang="en-US" altLang="en-US" b="1">
                <a:solidFill>
                  <a:srgbClr val="C00000"/>
                </a:solidFill>
              </a:rPr>
            </a:br>
            <a:r>
              <a:rPr lang="en-US" altLang="en-US" sz="3000" b="1"/>
              <a:t>Prof Bill Buchanan</a:t>
            </a:r>
            <a:br>
              <a:rPr lang="en-US" altLang="en-US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https://asecuritysite.com/symmetric</a:t>
            </a:r>
            <a:br>
              <a:rPr lang="en-US" altLang="en-US" sz="2000">
                <a:solidFill>
                  <a:srgbClr val="C00000"/>
                </a:solidFill>
              </a:rPr>
            </a:br>
            <a:endParaRPr lang="en-US" altLang="en-US" sz="2000">
              <a:solidFill>
                <a:srgbClr val="C00000"/>
              </a:solidFill>
            </a:endParaRPr>
          </a:p>
        </p:txBody>
      </p:sp>
      <p:pic>
        <p:nvPicPr>
          <p:cNvPr id="2" name="Content Placeholder 3" descr="Text, whiteboard&#10;&#10;Description automatically generated">
            <a:extLst>
              <a:ext uri="{FF2B5EF4-FFF2-40B4-BE49-F238E27FC236}">
                <a16:creationId xmlns:a16="http://schemas.microsoft.com/office/drawing/2014/main" id="{5A8E7E93-1D70-439C-3A0D-A6DECF8D077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539751"/>
            <a:ext cx="3540200" cy="359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Title 1">
            <a:extLst>
              <a:ext uri="{FF2B5EF4-FFF2-40B4-BE49-F238E27FC236}">
                <a16:creationId xmlns:a16="http://schemas.microsoft.com/office/drawing/2014/main" id="{9F8455A7-1C1C-7D44-E5EC-84D768CF46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>
                <a:solidFill>
                  <a:srgbClr val="C00000"/>
                </a:solidFill>
              </a:rPr>
              <a:t>Key Entropy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36F738EE-5A22-FEDD-24D4-D2B6CD76A261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11188" y="3073400"/>
          <a:ext cx="7200900" cy="2441575"/>
        </p:xfrm>
        <a:graphic>
          <a:graphicData uri="http://schemas.openxmlformats.org/drawingml/2006/table">
            <a:tbl>
              <a:tblPr/>
              <a:tblGrid>
                <a:gridCol w="20558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68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272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09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007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GB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Password definition</a:t>
                      </a: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Number of possible characters</a:t>
                      </a: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Total number of passwords</a:t>
                      </a: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Entropy (bits)</a:t>
                      </a: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29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[0-9]</a:t>
                      </a: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</a:t>
                      </a: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100,000,000</a:t>
                      </a: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26.6</a:t>
                      </a: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29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GB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[a-z]</a:t>
                      </a: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</a:t>
                      </a: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2.08827x10</a:t>
                      </a:r>
                      <a:r>
                        <a:rPr kumimoji="0" lang="en-GB" alt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11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37.6</a:t>
                      </a: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029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[a-zA-Z]</a:t>
                      </a: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52</a:t>
                      </a: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5.34597x10</a:t>
                      </a:r>
                      <a:r>
                        <a:rPr kumimoji="0" lang="en-GB" alt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45.6</a:t>
                      </a: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029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[a-zA-Z0-9]</a:t>
                      </a: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62</a:t>
                      </a: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2.1834x10</a:t>
                      </a:r>
                      <a:r>
                        <a:rPr kumimoji="0" lang="en-GB" alt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47.6</a:t>
                      </a: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E9EDF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0299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GB" altLang="en-US" sz="1400" b="1" i="0" u="none" strike="noStrike" cap="none" normalizeH="0" baseline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[a-zA-Z0-9$%!@+=]</a:t>
                      </a: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68</a:t>
                      </a: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GB" altLang="en-US" sz="1400" b="0" i="0" u="none" strike="noStrike" cap="none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4.57163x10</a:t>
                      </a:r>
                      <a:r>
                        <a:rPr kumimoji="0" lang="en-GB" altLang="en-US" sz="1400" b="0" i="0" u="none" strike="noStrike" cap="none" normalizeH="0" baseline="3000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14</a:t>
                      </a:r>
                      <a:endParaRPr kumimoji="0" lang="en-GB" altLang="en-US" sz="1400" b="0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8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1pPr>
                      <a:lvl2pPr marL="742950" indent="-28575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4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2pPr>
                      <a:lvl3pPr marL="11430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 sz="2000"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3pPr>
                      <a:lvl4pPr marL="16002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4pPr>
                      <a:lvl5pPr marL="2057400" indent="-228600">
                        <a:spcBef>
                          <a:spcPct val="20000"/>
                        </a:spcBef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anose="020B0604020202020204" pitchFamily="34" charset="0"/>
                        <a:tabLst>
                          <a:tab pos="457200" algn="l"/>
                        </a:tabLst>
                        <a:defRPr>
                          <a:solidFill>
                            <a:schemeClr val="tx1"/>
                          </a:solidFill>
                          <a:latin typeface="Calibri" panose="020F0502020204030204" pitchFamily="34" charset="0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>
                          <a:tab pos="457200" algn="l"/>
                        </a:tabLst>
                      </a:pPr>
                      <a:r>
                        <a:rPr kumimoji="0" lang="en-GB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48.7</a:t>
                      </a:r>
                    </a:p>
                  </a:txBody>
                  <a:tcPr marL="68580" marR="68580" marT="0" marB="0" anchor="b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D0D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>
            <a:extLst>
              <a:ext uri="{FF2B5EF4-FFF2-40B4-BE49-F238E27FC236}">
                <a16:creationId xmlns:a16="http://schemas.microsoft.com/office/drawing/2014/main" id="{52AC6511-AC6A-D3F7-D78E-A3692FC40132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50583" y="1254684"/>
            <a:ext cx="7200800" cy="678455"/>
          </a:xfrm>
          <a:prstGeom prst="rect">
            <a:avLst/>
          </a:prstGeom>
          <a:blipFill rotWithShape="0">
            <a:blip r:embed="rId3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  <a:latin typeface="Calibri" charset="0"/>
                <a:ea typeface="Arial" charset="0"/>
                <a:cs typeface="Arial" charset="0"/>
              </a:rPr>
              <a:t> 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9E775E8-E101-3096-9B0D-B12AF7265A30}"/>
              </a:ext>
            </a:extLst>
          </p:cNvPr>
          <p:cNvSpPr>
            <a:spLocks noRot="1" noChangeAspect="1" noMove="1" noResize="1" noEditPoints="1" noAdjustHandles="1" noChangeArrowheads="1" noChangeShapeType="1" noTextEdit="1"/>
          </p:cNvSpPr>
          <p:nvPr/>
        </p:nvSpPr>
        <p:spPr>
          <a:xfrm>
            <a:off x="827584" y="2160771"/>
            <a:ext cx="6120680" cy="696729"/>
          </a:xfrm>
          <a:prstGeom prst="rect">
            <a:avLst/>
          </a:prstGeom>
          <a:blipFill rotWithShape="0">
            <a:blip r:embed="rId4"/>
            <a:stretch>
              <a:fillRect/>
            </a:stretch>
          </a:blipFill>
        </p:spPr>
        <p:txBody>
          <a:bodyPr/>
          <a:lstStyle/>
          <a:p>
            <a:pPr>
              <a:defRPr/>
            </a:pPr>
            <a:r>
              <a:rPr lang="en-US">
                <a:noFill/>
              </a:rPr>
              <a:t> </a:t>
            </a:r>
          </a:p>
        </p:txBody>
      </p:sp>
      <p:sp>
        <p:nvSpPr>
          <p:cNvPr id="2" name="Rectangle 1">
            <a:hlinkClick r:id="rId5"/>
            <a:extLst>
              <a:ext uri="{FF2B5EF4-FFF2-40B4-BE49-F238E27FC236}">
                <a16:creationId xmlns:a16="http://schemas.microsoft.com/office/drawing/2014/main" id="{2330F261-68D5-2D72-1F7E-D673CB579A19}"/>
              </a:ext>
            </a:extLst>
          </p:cNvPr>
          <p:cNvSpPr/>
          <p:nvPr/>
        </p:nvSpPr>
        <p:spPr>
          <a:xfrm>
            <a:off x="7164288" y="1246176"/>
            <a:ext cx="1656184" cy="557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Password entropy</a:t>
            </a:r>
          </a:p>
        </p:txBody>
      </p:sp>
      <p:sp>
        <p:nvSpPr>
          <p:cNvPr id="6" name="Rectangle 5">
            <a:hlinkClick r:id="rId6"/>
            <a:extLst>
              <a:ext uri="{FF2B5EF4-FFF2-40B4-BE49-F238E27FC236}">
                <a16:creationId xmlns:a16="http://schemas.microsoft.com/office/drawing/2014/main" id="{F4DE3FE5-14D6-C980-1D72-D98E764D630F}"/>
              </a:ext>
            </a:extLst>
          </p:cNvPr>
          <p:cNvSpPr/>
          <p:nvPr/>
        </p:nvSpPr>
        <p:spPr>
          <a:xfrm>
            <a:off x="7164288" y="472541"/>
            <a:ext cx="1656184" cy="55742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Password entropy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Title 1">
            <a:extLst>
              <a:ext uri="{FF2B5EF4-FFF2-40B4-BE49-F238E27FC236}">
                <a16:creationId xmlns:a16="http://schemas.microsoft.com/office/drawing/2014/main" id="{24E5D052-254C-CD1A-9EA3-8D26F4CDB5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8313" y="2425700"/>
            <a:ext cx="5327650" cy="952500"/>
          </a:xfrm>
        </p:spPr>
        <p:txBody>
          <a:bodyPr/>
          <a:lstStyle/>
          <a:p>
            <a:pPr algn="l"/>
            <a:r>
              <a:rPr lang="en-US" altLang="en-US" b="1">
                <a:solidFill>
                  <a:srgbClr val="C00000"/>
                </a:solidFill>
              </a:rPr>
              <a:t>Symmetric Key</a:t>
            </a:r>
            <a:br>
              <a:rPr lang="en-US" altLang="en-US" b="1">
                <a:solidFill>
                  <a:srgbClr val="C00000"/>
                </a:solidFill>
              </a:rPr>
            </a:br>
            <a:br>
              <a:rPr lang="en-US" altLang="en-US" b="1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Basics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Block or Stream?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Secret Key Methods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Salting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AES</a:t>
            </a:r>
            <a:br>
              <a:rPr lang="en-US" altLang="en-US" sz="2000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Key Entropy</a:t>
            </a:r>
            <a:br>
              <a:rPr lang="en-US" altLang="en-US" sz="2000" b="1">
                <a:solidFill>
                  <a:srgbClr val="C00000"/>
                </a:solidFill>
              </a:rPr>
            </a:br>
            <a:br>
              <a:rPr lang="en-US" altLang="en-US" b="1">
                <a:solidFill>
                  <a:srgbClr val="C00000"/>
                </a:solidFill>
              </a:rPr>
            </a:br>
            <a:r>
              <a:rPr lang="en-US" altLang="en-US" sz="3000" b="1"/>
              <a:t>Prof Bill Buchanan OBE</a:t>
            </a:r>
            <a:br>
              <a:rPr lang="en-US" altLang="en-US">
                <a:solidFill>
                  <a:srgbClr val="C00000"/>
                </a:solidFill>
              </a:rPr>
            </a:br>
            <a:r>
              <a:rPr lang="en-US" altLang="en-US" sz="2000">
                <a:solidFill>
                  <a:srgbClr val="C00000"/>
                </a:solidFill>
              </a:rPr>
              <a:t>https://asecuritysite.com/symmetric</a:t>
            </a:r>
            <a:br>
              <a:rPr lang="en-US" altLang="en-US" sz="2000">
                <a:solidFill>
                  <a:srgbClr val="C00000"/>
                </a:solidFill>
              </a:rPr>
            </a:br>
            <a:br>
              <a:rPr lang="en-US" altLang="en-US" sz="2000">
                <a:solidFill>
                  <a:srgbClr val="C00000"/>
                </a:solidFill>
              </a:rPr>
            </a:br>
            <a:endParaRPr lang="en-US" altLang="en-US" sz="2000">
              <a:solidFill>
                <a:srgbClr val="C00000"/>
              </a:solidFill>
            </a:endParaRPr>
          </a:p>
        </p:txBody>
      </p:sp>
      <p:pic>
        <p:nvPicPr>
          <p:cNvPr id="2" name="Content Placeholder 3" descr="Text, whiteboard&#10;&#10;Description automatically generated">
            <a:extLst>
              <a:ext uri="{FF2B5EF4-FFF2-40B4-BE49-F238E27FC236}">
                <a16:creationId xmlns:a16="http://schemas.microsoft.com/office/drawing/2014/main" id="{EF77A3C8-6AB3-ABD5-2735-903FFB39EC8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64088" y="539751"/>
            <a:ext cx="3540200" cy="35998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SHOWBARVISIBLE" val="True"/>
  <p:tag name="CSVFORMAT" val="0"/>
  <p:tag name="COUNTDOWNSTYLE" val="-1"/>
  <p:tag name="COUNTDOWNSECONDS" val="10"/>
  <p:tag name="BACKUPSESSIONS" val="True"/>
  <p:tag name="REVIEWONLY" val="False"/>
  <p:tag name="RACEENDPOINTS" val="100"/>
  <p:tag name="PARTICIPANTSINLEADERBOARD" val="5"/>
  <p:tag name="BUBBLESIZEVISIBLE" val="True"/>
  <p:tag name="CUSTOMGRIDBACKCOLOR" val="-722948"/>
  <p:tag name="CUSTOMCELLBACKCOLOR3" val="-268652"/>
  <p:tag name="DISPLAYDEVICENUMBER" val="True"/>
  <p:tag name="AUTOSIZEGRID" val="True"/>
  <p:tag name="POLLINGCYCLE" val="2"/>
  <p:tag name="INCLUDENONRESPONDERS" val="False"/>
  <p:tag name="CORRECTPOINTVALUE" val="1"/>
  <p:tag name="ZEROBASED" val="False"/>
  <p:tag name="FIBDISPLAYRESULTS" val="True"/>
  <p:tag name="PRRESPONSE1" val="10"/>
  <p:tag name="PRRESPONSE5" val="6"/>
  <p:tag name="PRRESPONSE9" val="2"/>
  <p:tag name="USESECONDARYMONITOR" val="True"/>
  <p:tag name="ANSWERNOWTEXT" val="Answer Now"/>
  <p:tag name="INPUTSOURCE" val="1"/>
  <p:tag name="CHARTVALUEFORMAT" val="0%"/>
  <p:tag name="STDCHART" val="1"/>
  <p:tag name="TEAMSINLEADERBOARD" val="5"/>
  <p:tag name="BUBBLEGROUPING" val="3"/>
  <p:tag name="CUSTOMCELLBACKCOLOR2" val="-13395457"/>
  <p:tag name="DISPLAYDEVICEID" val="True"/>
  <p:tag name="GRIDPOSITION" val="1"/>
  <p:tag name="RESETCHARTS" val="True"/>
  <p:tag name="INCORRECTPOINTVALUE" val="0"/>
  <p:tag name="CHARTSCALE" val="True"/>
  <p:tag name="FIBDISPLAYKEYWORDS" val="True"/>
  <p:tag name="PRRESPONSE6" val="5"/>
  <p:tag name="SHOWFLASHWARNING" val="True"/>
  <p:tag name="RESPCOUNTERSTYLE" val="-1"/>
  <p:tag name="ALLOWDUPLICATES" val="False"/>
  <p:tag name="AUTOUPDATEALIASES" val="True"/>
  <p:tag name="MAXRESPONDERS" val="5"/>
  <p:tag name="CUSTOMCELLFORECOLOR" val="-16777216"/>
  <p:tag name="DISPLAYNAME" val="True"/>
  <p:tag name="GRIDFONTSIZE" val="12"/>
  <p:tag name="INCLUDEPPT" val="True"/>
  <p:tag name="AUTOADJUSTPARTRANGE" val="True"/>
  <p:tag name="PRRESPONSE2" val="9"/>
  <p:tag name="PRRESPONSE8" val="3"/>
  <p:tag name="POWERPOINTVERSION" val="14.0"/>
  <p:tag name="RESPCOUNTERFORMAT" val="0"/>
  <p:tag name="AUTOADVANCE" val="False"/>
  <p:tag name="SKIPREMAININGRACESLIDES" val="True"/>
  <p:tag name="CUSTOMCELLBACKCOLOR1" val="-657956"/>
  <p:tag name="GRIDROTATIONINTERVAL" val="2"/>
  <p:tag name="MULTIRESPDIVISOR" val="1"/>
  <p:tag name="ADVANCEDSETTINGSVIEW" val="False"/>
  <p:tag name="PRRESPONSE4" val="7"/>
  <p:tag name="TPVERSION" val="2008"/>
  <p:tag name="RESPTABLESTYLE" val="-1"/>
  <p:tag name="RACERSMAXDISPLAYED" val="5"/>
  <p:tag name="DEFAULTNUMTEAMS" val="5"/>
  <p:tag name="GRIDSIZE" val="{Width=800, Height=600}"/>
  <p:tag name="REALTIMEBACKUP" val="False"/>
  <p:tag name="PRRESPONSE3" val="8"/>
  <p:tag name="SAVECSVWITHSESSION" val="True"/>
  <p:tag name="BACKUPMAINTENANCE" val="7"/>
  <p:tag name="BUBBLEVALUEFORMAT" val="0.0"/>
  <p:tag name="CHARTCOLORS" val="0"/>
  <p:tag name="FIBNUMRESULTS" val="5"/>
  <p:tag name="ALWAYSOPENPOLL" val="False"/>
  <p:tag name="ROTATIONINTERVAL" val="2"/>
  <p:tag name="USESCHEMECOLORS" val="True"/>
  <p:tag name="REALTIMEBACKUPPATH" val="(None)"/>
  <p:tag name="BULLETTYPE" val="3"/>
  <p:tag name="BUBBLENAMEVISIBLE" val="True"/>
  <p:tag name="ALLOWUSERFEEDBACK" val="True"/>
  <p:tag name="ANSWERNOWSTYLE" val="-1"/>
  <p:tag name="GRIDOPACITY" val="90"/>
  <p:tag name="PRRESPONSE10" val="1"/>
  <p:tag name="CHARTLABELS" val="1"/>
  <p:tag name="RACEANIMATIONSPEED" val="3"/>
  <p:tag name="NUMRESPONSES" val="1"/>
  <p:tag name="CUSTOMCELLBACKCOLOR4" val="-8355712"/>
  <p:tag name="PRRESPONSE7" val="4"/>
  <p:tag name="FIBINCLUDEOTHER" val="True"/>
  <p:tag name="DELIMITERS" val="3.1"/>
  <p:tag name="EXPANDSHOWBAR" val="True"/>
  <p:tag name="TASKPANEKEY" val="dafbef08-a348-49d7-bea5-b86f92686b8d"/>
  <p:tag name="TPFULLVERSION" val="4.3.2.1178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NOPREFERENCE" val="False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8466</TotalTime>
  <Words>929</Words>
  <Application>Microsoft Macintosh PowerPoint</Application>
  <PresentationFormat>On-screen Show (16:10)</PresentationFormat>
  <Paragraphs>112</Paragraphs>
  <Slides>36</Slides>
  <Notes>30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Office Theme</vt:lpstr>
      <vt:lpstr>Visio.Drawing.15</vt:lpstr>
      <vt:lpstr>Symmetric Key  Basics Block or Stream? Secret Key Methods Salting AES Key Entropy  Prof Bill Buchanan OBE, FRSE https://asecuritysite.com/symmetric </vt:lpstr>
      <vt:lpstr>PowerPoint Presentation</vt:lpstr>
      <vt:lpstr>Symmetric Key  Basics Block or Stream? Secret Key Methods Salting AES Key Entropy  Prof Bill Buchanan OBE, FRSE https://asecuritysite.com/symmetric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Symmetric Key  Basics Block or Stream? Secret Key Methods Salting AES Key Entropy  Prof Bill Buchanan OBE https://asecuritysite.com/symmetric</vt:lpstr>
      <vt:lpstr>Symmetric Key</vt:lpstr>
      <vt:lpstr>Number of keys</vt:lpstr>
      <vt:lpstr>PowerPoint Presentation</vt:lpstr>
      <vt:lpstr>PowerPoint Presentation</vt:lpstr>
      <vt:lpstr>Padding</vt:lpstr>
      <vt:lpstr>Padding</vt:lpstr>
      <vt:lpstr>AES</vt:lpstr>
      <vt:lpstr>PowerPoint Presentation</vt:lpstr>
      <vt:lpstr>PowerPoint Presentation</vt:lpstr>
      <vt:lpstr>Symmetric Key - Modes</vt:lpstr>
      <vt:lpstr>Symmetric Key – Electronic Code Code (ECB)</vt:lpstr>
      <vt:lpstr>Symmetric Key – Cipher Block Chaining (CBC)</vt:lpstr>
      <vt:lpstr>Authenticated Encryption with Additional Data (AEAD)</vt:lpstr>
      <vt:lpstr>Symmetric Key – GCM (Galois Counter Mode)</vt:lpstr>
      <vt:lpstr>Symmetric Key Basics Block or Stream? Secret Key Methods Salting AES Key Entropy  Prof Bill Buchanan https://asecuritysite.com/symmetric</vt:lpstr>
      <vt:lpstr>PowerPoint Presentation</vt:lpstr>
      <vt:lpstr>PowerPoint Presentation</vt:lpstr>
      <vt:lpstr>PowerPoint Presentation</vt:lpstr>
      <vt:lpstr>PowerPoint Presentation</vt:lpstr>
      <vt:lpstr>Symmetric Key  Basics Block or Stream? Secret Key Methods Salting AES Key Entropy  Prof Bill Buchanan https://asecuritysite.com/symmetric </vt:lpstr>
      <vt:lpstr>Key Entropy</vt:lpstr>
      <vt:lpstr>Symmetric Key  Basics Block or Stream? Secret Key Methods Salting AES Key Entropy  Prof Bill Buchanan OBE https://asecuritysite.com/symmetric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edinsiaf</dc:creator>
  <cp:lastModifiedBy>Buchanan, Bill</cp:lastModifiedBy>
  <cp:revision>161</cp:revision>
  <cp:lastPrinted>2018-01-17T19:44:27Z</cp:lastPrinted>
  <dcterms:created xsi:type="dcterms:W3CDTF">2012-09-04T19:54:08Z</dcterms:created>
  <dcterms:modified xsi:type="dcterms:W3CDTF">2026-10-08T07:01:39Z</dcterms:modified>
</cp:coreProperties>
</file>